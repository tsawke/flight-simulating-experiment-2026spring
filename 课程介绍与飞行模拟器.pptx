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61" r:id="rId3"/>
    <p:sldId id="271" r:id="rId4"/>
    <p:sldId id="272" r:id="rId5"/>
    <p:sldId id="273" r:id="rId6"/>
    <p:sldId id="297" r:id="rId7"/>
    <p:sldId id="276" r:id="rId8"/>
    <p:sldId id="287" r:id="rId9"/>
    <p:sldId id="299" r:id="rId10"/>
    <p:sldId id="300" r:id="rId11"/>
    <p:sldId id="301" r:id="rId12"/>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2"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Hindsbo" initials="MH" lastIdx="9"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804" autoAdjust="0"/>
  </p:normalViewPr>
  <p:slideViewPr>
    <p:cSldViewPr snapToGrid="0" showGuides="1">
      <p:cViewPr varScale="1">
        <p:scale>
          <a:sx n="122" d="100"/>
          <a:sy n="122" d="100"/>
        </p:scale>
        <p:origin x="90" y="690"/>
      </p:cViewPr>
      <p:guideLst>
        <p:guide orient="horz" pos="1952"/>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6.xml"/><Relationship Id="rId18" Type="http://schemas.openxmlformats.org/officeDocument/2006/relationships/commentAuthors" Target="commen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4.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矩形 7"/>
          <p:cNvSpPr/>
          <p:nvPr/>
        </p:nvSpPr>
        <p:spPr>
          <a:xfrm>
            <a:off x="7043180" y="2342521"/>
            <a:ext cx="4752528" cy="4571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7043180" y="3396352"/>
            <a:ext cx="4752528" cy="4571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rot="5400000">
            <a:off x="5905629" y="3910201"/>
            <a:ext cx="4752528" cy="4571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5400000">
            <a:off x="7008356" y="3910199"/>
            <a:ext cx="4752528" cy="4571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5400000">
            <a:off x="8174960" y="3982207"/>
            <a:ext cx="4752528" cy="4571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59765" y="1308100"/>
            <a:ext cx="10628630" cy="31064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nvPr>
        </p:nvSpPr>
        <p:spPr>
          <a:xfrm>
            <a:off x="3162513" y="1473427"/>
            <a:ext cx="5832422" cy="1179091"/>
          </a:xfrm>
          <a:noFill/>
        </p:spPr>
        <p:txBody>
          <a:bodyPr anchor="b">
            <a:normAutofit/>
          </a:bodyPr>
          <a:lstStyle>
            <a:lvl1pPr algn="dist">
              <a:defRPr sz="5400">
                <a:solidFill>
                  <a:schemeClr val="bg1"/>
                </a:solidFill>
              </a:defRPr>
            </a:lvl1pPr>
          </a:lstStyle>
          <a:p>
            <a:r>
              <a:rPr lang="zh-CN" altLang="en-US" dirty="0"/>
              <a:t>航空热流体实验</a:t>
            </a:r>
            <a:endParaRPr lang="zh-CN" altLang="en-US" dirty="0"/>
          </a:p>
        </p:txBody>
      </p:sp>
      <p:sp>
        <p:nvSpPr>
          <p:cNvPr id="3" name="副标题 2"/>
          <p:cNvSpPr>
            <a:spLocks noGrp="1"/>
          </p:cNvSpPr>
          <p:nvPr>
            <p:ph type="subTitle" idx="1" hasCustomPrompt="1"/>
          </p:nvPr>
        </p:nvSpPr>
        <p:spPr>
          <a:xfrm>
            <a:off x="3213313" y="3091939"/>
            <a:ext cx="5832422" cy="942325"/>
          </a:xfrm>
          <a:noFill/>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2019    秋季学期</a:t>
            </a:r>
            <a:endParaRPr lang="zh-CN" altLang="en-US" dirty="0"/>
          </a:p>
          <a:p>
            <a:r>
              <a:rPr lang="zh-CN" altLang="en-US" dirty="0"/>
              <a:t>指导老师：曹人靖、赵晓争</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20" name="图片 19" descr="QQ图片20190817131614"/>
          <p:cNvPicPr>
            <a:picLocks noChangeAspect="1"/>
          </p:cNvPicPr>
          <p:nvPr userDrawn="1"/>
        </p:nvPicPr>
        <p:blipFill>
          <a:blip r:embed="rId2"/>
          <a:stretch>
            <a:fillRect/>
          </a:stretch>
        </p:blipFill>
        <p:spPr>
          <a:xfrm>
            <a:off x="3216275" y="3294380"/>
            <a:ext cx="5828665" cy="4121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0-#ppt_w/2"/>
                                          </p:val>
                                        </p:tav>
                                        <p:tav tm="100000">
                                          <p:val>
                                            <p:strVal val="#ppt_x"/>
                                          </p:val>
                                        </p:tav>
                                      </p:tavLst>
                                    </p:anim>
                                    <p:anim calcmode="lin" valueType="num">
                                      <p:cBhvr additive="base">
                                        <p:cTn id="8" dur="1000" fill="hold"/>
                                        <p:tgtEl>
                                          <p:spTgt spid="14"/>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750"/>
                                        <p:tgtEl>
                                          <p:spTgt spid="10"/>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10" presetClass="entr" presetSubtype="0" fill="hold" grpId="0" nodeType="withEffect">
                                  <p:stCondLst>
                                    <p:cond delay="50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750"/>
                                        <p:tgtEl>
                                          <p:spTgt spid="12"/>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750"/>
                                        <p:tgtEl>
                                          <p:spTgt spid="8"/>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bldLvl="0" animBg="1"/>
      <p:bldP spid="11" grpId="0" bldLvl="0" animBg="1"/>
      <p:bldP spid="12" grpId="0" bldLvl="0" animBg="1"/>
      <p:bldP spid="14"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tx2"/>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lnSpc>
                <a:spcPct val="120000"/>
              </a:lnSpc>
              <a:defRPr/>
            </a:lvl1pPr>
            <a:lvl2pPr>
              <a:lnSpc>
                <a:spcPct val="120000"/>
              </a:lnSpc>
              <a:defRPr/>
            </a:lvl2pPr>
            <a:lvl3pPr>
              <a:lnSpc>
                <a:spcPct val="120000"/>
              </a:lnSpc>
              <a:defRPr/>
            </a:lvl3pPr>
            <a:lvl4pPr>
              <a:lnSpc>
                <a:spcPct val="120000"/>
              </a:lnSpc>
              <a:defRPr/>
            </a:lvl4pPr>
            <a:lvl5pPr>
              <a:lnSpc>
                <a:spcPct val="120000"/>
              </a:lnSpc>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Autofit/>
          </a:bodyPr>
          <a:lstStyle>
            <a:lvl1pPr marL="0" marR="0" lvl="0" algn="ctr" defTabSz="914400" rtl="0" eaLnBrk="1" fontAlgn="auto" latinLnBrk="0" hangingPunct="1">
              <a:lnSpc>
                <a:spcPct val="90000"/>
              </a:lnSpc>
              <a:spcBef>
                <a:spcPct val="0"/>
              </a:spcBef>
              <a:buClrTx/>
              <a:buSzTx/>
              <a:buFontTx/>
              <a:buNone/>
              <a:defRPr kumimoji="0" lang="zh-CN" altLang="en-US" sz="1500" b="0" i="0" u="none" strike="noStrike" kern="1200" cap="none" spc="0" normalizeH="0" baseline="0" noProof="1" dirty="0">
                <a:solidFill>
                  <a:schemeClr val="tx2"/>
                </a:solidFill>
                <a:latin typeface="+mj-lt"/>
                <a:ea typeface="+mj-ea"/>
                <a:cs typeface="+mj-cs"/>
              </a:defRPr>
            </a:lvl1pPr>
          </a:lstStyle>
          <a:p>
            <a:r>
              <a:rPr lang="zh-CN" altLang="en-US" dirty="0"/>
              <a:t>MA</a:t>
            </a:r>
            <a:r>
              <a:rPr lang="en-US" altLang="zh-CN" dirty="0"/>
              <a:t>E302</a:t>
            </a:r>
            <a:endParaRPr lang="en-US" altLang="zh-CN" dirty="0"/>
          </a:p>
        </p:txBody>
      </p:sp>
      <p:sp>
        <p:nvSpPr>
          <p:cNvPr id="6" name="灯片编号占位符 5"/>
          <p:cNvSpPr>
            <a:spLocks noGrp="1"/>
          </p:cNvSpPr>
          <p:nvPr>
            <p:ph type="sldNum" sz="quarter" idx="12"/>
          </p:nvPr>
        </p:nvSpPr>
        <p:spPr/>
        <p:txBody>
          <a:bodyPr/>
          <a:lstStyle>
            <a:lvl1pPr marL="0" marR="0" lvl="0" algn="r" defTabSz="914400" rtl="0" eaLnBrk="1" fontAlgn="auto" latinLnBrk="0" hangingPunct="1">
              <a:lnSpc>
                <a:spcPct val="90000"/>
              </a:lnSpc>
              <a:spcBef>
                <a:spcPct val="0"/>
              </a:spcBef>
              <a:buClrTx/>
              <a:buSzTx/>
              <a:buFontTx/>
              <a:buNone/>
              <a:defRPr kumimoji="0" lang="en-US" altLang="zh-CN" sz="1500" b="0" i="0" u="none" strike="noStrike" kern="1200" cap="none" spc="0" normalizeH="0" baseline="0" noProof="1">
                <a:solidFill>
                  <a:schemeClr val="tx2"/>
                </a:solidFill>
                <a:latin typeface="+mj-lt"/>
                <a:ea typeface="+mj-ea"/>
                <a:cs typeface="+mj-cs"/>
              </a:defRPr>
            </a:lvl1pPr>
          </a:lstStyle>
          <a:p>
            <a:fld id="{49AE70B2-8BF9-45C0-BB95-33D1B9D3A854}" type="slidenum">
              <a:rPr lang="zh-CN" altLang="en-US" smtClean="0"/>
            </a:fld>
            <a:endParaRPr lang="zh-CN" altLang="en-US"/>
          </a:p>
        </p:txBody>
      </p:sp>
      <p:pic>
        <p:nvPicPr>
          <p:cNvPr id="20" name="图片 19" descr="QQ图片20190817131614"/>
          <p:cNvPicPr>
            <a:picLocks noChangeAspect="1"/>
          </p:cNvPicPr>
          <p:nvPr userDrawn="1"/>
        </p:nvPicPr>
        <p:blipFill>
          <a:blip r:embed="rId2"/>
          <a:stretch>
            <a:fillRect/>
          </a:stretch>
        </p:blipFill>
        <p:spPr>
          <a:xfrm>
            <a:off x="7456805" y="-1162050"/>
            <a:ext cx="4827270" cy="3413125"/>
          </a:xfrm>
          <a:prstGeom prst="rect">
            <a:avLst/>
          </a:prstGeom>
        </p:spPr>
      </p:pic>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9" name="等腰三角形 3"/>
          <p:cNvSpPr/>
          <p:nvPr userDrawn="1"/>
        </p:nvSpPr>
        <p:spPr>
          <a:xfrm rot="5400000">
            <a:off x="3539717" y="368661"/>
            <a:ext cx="2952326" cy="10081120"/>
          </a:xfrm>
          <a:custGeom>
            <a:avLst/>
            <a:gdLst>
              <a:gd name="connsiteX0" fmla="*/ 0 w 3632287"/>
              <a:gd name="connsiteY0" fmla="*/ 7116055 h 7116055"/>
              <a:gd name="connsiteX1" fmla="*/ 1816144 w 3632287"/>
              <a:gd name="connsiteY1" fmla="*/ 0 h 7116055"/>
              <a:gd name="connsiteX2" fmla="*/ 3632287 w 3632287"/>
              <a:gd name="connsiteY2" fmla="*/ 7116055 h 7116055"/>
              <a:gd name="connsiteX3" fmla="*/ 0 w 3632287"/>
              <a:gd name="connsiteY3" fmla="*/ 7116055 h 7116055"/>
              <a:gd name="connsiteX0-1" fmla="*/ 0 w 3632287"/>
              <a:gd name="connsiteY0-2" fmla="*/ 8335255 h 8335255"/>
              <a:gd name="connsiteX1-3" fmla="*/ 3618440 w 3632287"/>
              <a:gd name="connsiteY1-4" fmla="*/ 0 h 8335255"/>
              <a:gd name="connsiteX2-5" fmla="*/ 3632287 w 3632287"/>
              <a:gd name="connsiteY2-6" fmla="*/ 8335255 h 8335255"/>
              <a:gd name="connsiteX3-7" fmla="*/ 0 w 3632287"/>
              <a:gd name="connsiteY3-8" fmla="*/ 8335255 h 8335255"/>
            </a:gdLst>
            <a:ahLst/>
            <a:cxnLst>
              <a:cxn ang="0">
                <a:pos x="connsiteX0-1" y="connsiteY0-2"/>
              </a:cxn>
              <a:cxn ang="0">
                <a:pos x="connsiteX1-3" y="connsiteY1-4"/>
              </a:cxn>
              <a:cxn ang="0">
                <a:pos x="connsiteX2-5" y="connsiteY2-6"/>
              </a:cxn>
              <a:cxn ang="0">
                <a:pos x="connsiteX3-7" y="connsiteY3-8"/>
              </a:cxn>
            </a:cxnLst>
            <a:rect l="l" t="t" r="r" b="b"/>
            <a:pathLst>
              <a:path w="3632287" h="8335255">
                <a:moveTo>
                  <a:pt x="0" y="8335255"/>
                </a:moveTo>
                <a:lnTo>
                  <a:pt x="3618440" y="0"/>
                </a:lnTo>
                <a:cubicBezTo>
                  <a:pt x="3623056" y="2778418"/>
                  <a:pt x="3627671" y="5556837"/>
                  <a:pt x="3632287" y="8335255"/>
                </a:cubicBezTo>
                <a:lnTo>
                  <a:pt x="0" y="833525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988F5"/>
              </a:solidFill>
            </a:endParaRPr>
          </a:p>
        </p:txBody>
      </p:sp>
      <p:sp>
        <p:nvSpPr>
          <p:cNvPr id="10" name="等腰三角形 3"/>
          <p:cNvSpPr/>
          <p:nvPr userDrawn="1"/>
        </p:nvSpPr>
        <p:spPr>
          <a:xfrm rot="5400000">
            <a:off x="3986954" y="815896"/>
            <a:ext cx="2057852" cy="10081120"/>
          </a:xfrm>
          <a:custGeom>
            <a:avLst/>
            <a:gdLst>
              <a:gd name="connsiteX0" fmla="*/ 0 w 3632287"/>
              <a:gd name="connsiteY0" fmla="*/ 7116055 h 7116055"/>
              <a:gd name="connsiteX1" fmla="*/ 1816144 w 3632287"/>
              <a:gd name="connsiteY1" fmla="*/ 0 h 7116055"/>
              <a:gd name="connsiteX2" fmla="*/ 3632287 w 3632287"/>
              <a:gd name="connsiteY2" fmla="*/ 7116055 h 7116055"/>
              <a:gd name="connsiteX3" fmla="*/ 0 w 3632287"/>
              <a:gd name="connsiteY3" fmla="*/ 7116055 h 7116055"/>
              <a:gd name="connsiteX0-1" fmla="*/ 0 w 3632287"/>
              <a:gd name="connsiteY0-2" fmla="*/ 8335255 h 8335255"/>
              <a:gd name="connsiteX1-3" fmla="*/ 3618440 w 3632287"/>
              <a:gd name="connsiteY1-4" fmla="*/ 0 h 8335255"/>
              <a:gd name="connsiteX2-5" fmla="*/ 3632287 w 3632287"/>
              <a:gd name="connsiteY2-6" fmla="*/ 8335255 h 8335255"/>
              <a:gd name="connsiteX3-7" fmla="*/ 0 w 3632287"/>
              <a:gd name="connsiteY3-8" fmla="*/ 8335255 h 8335255"/>
            </a:gdLst>
            <a:ahLst/>
            <a:cxnLst>
              <a:cxn ang="0">
                <a:pos x="connsiteX0-1" y="connsiteY0-2"/>
              </a:cxn>
              <a:cxn ang="0">
                <a:pos x="connsiteX1-3" y="connsiteY1-4"/>
              </a:cxn>
              <a:cxn ang="0">
                <a:pos x="connsiteX2-5" y="connsiteY2-6"/>
              </a:cxn>
              <a:cxn ang="0">
                <a:pos x="connsiteX3-7" y="connsiteY3-8"/>
              </a:cxn>
            </a:cxnLst>
            <a:rect l="l" t="t" r="r" b="b"/>
            <a:pathLst>
              <a:path w="3632287" h="8335255">
                <a:moveTo>
                  <a:pt x="0" y="8335255"/>
                </a:moveTo>
                <a:lnTo>
                  <a:pt x="3618440" y="0"/>
                </a:lnTo>
                <a:cubicBezTo>
                  <a:pt x="3623056" y="2778418"/>
                  <a:pt x="3627671" y="5556837"/>
                  <a:pt x="3632287" y="8335255"/>
                </a:cubicBezTo>
                <a:lnTo>
                  <a:pt x="0" y="8335255"/>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988F5"/>
              </a:solidFill>
            </a:endParaRPr>
          </a:p>
        </p:txBody>
      </p:sp>
      <p:grpSp>
        <p:nvGrpSpPr>
          <p:cNvPr id="11" name="组合 10"/>
          <p:cNvGrpSpPr/>
          <p:nvPr userDrawn="1"/>
        </p:nvGrpSpPr>
        <p:grpSpPr>
          <a:xfrm>
            <a:off x="2495600" y="2164363"/>
            <a:ext cx="720080" cy="2088232"/>
            <a:chOff x="1846734" y="2492896"/>
            <a:chExt cx="720080" cy="2088232"/>
          </a:xfrm>
          <a:solidFill>
            <a:schemeClr val="accent4"/>
          </a:solidFill>
        </p:grpSpPr>
        <p:sp>
          <p:nvSpPr>
            <p:cNvPr id="12" name="矩形 11"/>
            <p:cNvSpPr/>
            <p:nvPr/>
          </p:nvSpPr>
          <p:spPr>
            <a:xfrm>
              <a:off x="1846734" y="2492896"/>
              <a:ext cx="720080"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846734" y="4535409"/>
              <a:ext cx="720080"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5400000">
              <a:off x="836908" y="3525583"/>
              <a:ext cx="2065371"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rot="10800000">
            <a:off x="4295800" y="2164363"/>
            <a:ext cx="720080" cy="2088232"/>
            <a:chOff x="1846734" y="2492896"/>
            <a:chExt cx="720080" cy="2088232"/>
          </a:xfrm>
          <a:solidFill>
            <a:schemeClr val="accent4"/>
          </a:solidFill>
        </p:grpSpPr>
        <p:sp>
          <p:nvSpPr>
            <p:cNvPr id="16" name="矩形 15"/>
            <p:cNvSpPr/>
            <p:nvPr/>
          </p:nvSpPr>
          <p:spPr>
            <a:xfrm>
              <a:off x="1846734" y="2492896"/>
              <a:ext cx="720080"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846734" y="4535409"/>
              <a:ext cx="720080"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5400000">
              <a:off x="836908" y="3525583"/>
              <a:ext cx="2065371"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文本框 9"/>
          <p:cNvSpPr txBox="1"/>
          <p:nvPr userDrawn="1"/>
        </p:nvSpPr>
        <p:spPr>
          <a:xfrm>
            <a:off x="3072361" y="1988841"/>
            <a:ext cx="1387239" cy="2623795"/>
          </a:xfrm>
          <a:prstGeom prst="rect">
            <a:avLst/>
          </a:prstGeom>
          <a:noFill/>
        </p:spPr>
        <p:txBody>
          <a:bodyPr wrap="none" lIns="68580" tIns="34290" rIns="68580" bIns="34290" rtlCol="0">
            <a:spAutoFit/>
          </a:bodyPr>
          <a:lstStyle/>
          <a:p>
            <a:pPr marL="0" lvl="1" algn="ctr"/>
            <a:r>
              <a:rPr lang="en-US" altLang="zh-CN" sz="16600" dirty="0">
                <a:solidFill>
                  <a:schemeClr val="tx2"/>
                </a:solidFill>
                <a:latin typeface="微软雅黑" panose="020B0503020204020204" charset="-122"/>
                <a:ea typeface="微软雅黑" panose="020B0503020204020204" charset="-122"/>
              </a:rPr>
              <a:t>1</a:t>
            </a:r>
            <a:endParaRPr lang="zh-CN" altLang="en-US" sz="16600" dirty="0">
              <a:solidFill>
                <a:schemeClr val="tx2"/>
              </a:solidFill>
              <a:latin typeface="微软雅黑" panose="020B0503020204020204" charset="-122"/>
              <a:ea typeface="微软雅黑" panose="020B0503020204020204" charset="-122"/>
            </a:endParaRPr>
          </a:p>
        </p:txBody>
      </p:sp>
      <p:sp>
        <p:nvSpPr>
          <p:cNvPr id="2" name="标题 1"/>
          <p:cNvSpPr>
            <a:spLocks noGrp="1"/>
          </p:cNvSpPr>
          <p:nvPr>
            <p:ph type="title" hasCustomPrompt="1"/>
          </p:nvPr>
        </p:nvSpPr>
        <p:spPr>
          <a:xfrm>
            <a:off x="5295121" y="1988841"/>
            <a:ext cx="5071706" cy="830998"/>
          </a:xfrm>
        </p:spPr>
        <p:txBody>
          <a:bodyPr anchor="b">
            <a:normAutofit/>
          </a:bodyPr>
          <a:lstStyle>
            <a:lvl1pPr>
              <a:defRPr sz="4800" b="0">
                <a:solidFill>
                  <a:schemeClr val="tx2"/>
                </a:solidFill>
              </a:defRPr>
            </a:lvl1pPr>
          </a:lstStyle>
          <a:p>
            <a:r>
              <a:rPr lang="zh-CN" altLang="en-US" dirty="0"/>
              <a:t>编辑标题</a:t>
            </a:r>
            <a:endParaRPr lang="zh-CN" altLang="en-US" dirty="0"/>
          </a:p>
        </p:txBody>
      </p:sp>
      <p:sp>
        <p:nvSpPr>
          <p:cNvPr id="3" name="文本占位符 2"/>
          <p:cNvSpPr>
            <a:spLocks noGrp="1"/>
          </p:cNvSpPr>
          <p:nvPr>
            <p:ph type="body" idx="1"/>
          </p:nvPr>
        </p:nvSpPr>
        <p:spPr>
          <a:xfrm>
            <a:off x="5295121" y="2866631"/>
            <a:ext cx="5071706" cy="464785"/>
          </a:xfrm>
        </p:spPr>
        <p:txBody>
          <a:bodyPr/>
          <a:lstStyle>
            <a:lvl1pPr marL="0" indent="0">
              <a:buNone/>
              <a:defRPr sz="2400">
                <a:solidFill>
                  <a:schemeClr val="tx2"/>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Autofit/>
          </a:bodyPr>
          <a:lstStyle>
            <a:lvl1pPr>
              <a:defRPr sz="1500"/>
            </a:lvl1pPr>
          </a:lstStyle>
          <a:p>
            <a:r>
              <a:rPr lang="zh-CN" altLang="en-US" dirty="0">
                <a:sym typeface="+mn-ea"/>
              </a:rPr>
              <a:t>MAE</a:t>
            </a:r>
            <a:r>
              <a:rPr lang="en-US" altLang="zh-CN" dirty="0">
                <a:sym typeface="+mn-ea"/>
              </a:rPr>
              <a:t>302</a:t>
            </a:r>
            <a:endParaRPr lang="zh-CN" altLang="en-US" dirty="0">
              <a:sym typeface="+mn-ea"/>
            </a:endParaRPr>
          </a:p>
        </p:txBody>
      </p:sp>
      <p:sp>
        <p:nvSpPr>
          <p:cNvPr id="6" name="灯片编号占位符 5"/>
          <p:cNvSpPr>
            <a:spLocks noGrp="1"/>
          </p:cNvSpPr>
          <p:nvPr>
            <p:ph type="sldNum" sz="quarter" idx="12"/>
          </p:nvPr>
        </p:nvSpPr>
        <p:spPr/>
        <p:txBody>
          <a:bodyPr>
            <a:noAutofit/>
          </a:bodyPr>
          <a:lstStyle>
            <a:lvl1pPr>
              <a:defRPr sz="1500"/>
            </a:lvl1pPr>
          </a:lstStyle>
          <a:p>
            <a:fld id="{49AE70B2-8BF9-45C0-BB95-33D1B9D3A854}" type="slidenum">
              <a:rPr lang="zh-CN" altLang="en-US" smtClean="0"/>
            </a:fld>
            <a:endParaRPr lang="zh-CN" altLang="en-US"/>
          </a:p>
        </p:txBody>
      </p:sp>
      <p:pic>
        <p:nvPicPr>
          <p:cNvPr id="20" name="图片 19" descr="QQ图片20190817131614"/>
          <p:cNvPicPr>
            <a:picLocks noChangeAspect="1"/>
          </p:cNvPicPr>
          <p:nvPr userDrawn="1"/>
        </p:nvPicPr>
        <p:blipFill>
          <a:blip r:embed="rId2"/>
          <a:stretch>
            <a:fillRect/>
          </a:stretch>
        </p:blipFill>
        <p:spPr>
          <a:xfrm>
            <a:off x="7456805" y="-1162050"/>
            <a:ext cx="4827270" cy="34131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fill="hold" nodeType="withEffect">
                                  <p:stCondLst>
                                    <p:cond delay="75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0-#ppt_w/2"/>
                                          </p:val>
                                        </p:tav>
                                        <p:tav tm="100000">
                                          <p:val>
                                            <p:strVal val="#ppt_x"/>
                                          </p:val>
                                        </p:tav>
                                      </p:tavLst>
                                    </p:anim>
                                    <p:anim calcmode="lin" valueType="num">
                                      <p:cBhvr additive="base">
                                        <p:cTn id="17" dur="500" fill="hold"/>
                                        <p:tgtEl>
                                          <p:spTgt spid="11"/>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75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1+#ppt_w/2"/>
                                          </p:val>
                                        </p:tav>
                                        <p:tav tm="100000">
                                          <p:val>
                                            <p:strVal val="#ppt_x"/>
                                          </p:val>
                                        </p:tav>
                                      </p:tavLst>
                                    </p:anim>
                                    <p:anim calcmode="lin" valueType="num">
                                      <p:cBhvr additive="base">
                                        <p:cTn id="21" dur="500" fill="hold"/>
                                        <p:tgtEl>
                                          <p:spTgt spid="15"/>
                                        </p:tgtEl>
                                        <p:attrNameLst>
                                          <p:attrName>ppt_y</p:attrName>
                                        </p:attrNameLst>
                                      </p:cBhvr>
                                      <p:tavLst>
                                        <p:tav tm="0">
                                          <p:val>
                                            <p:strVal val="#ppt_y"/>
                                          </p:val>
                                        </p:tav>
                                        <p:tav tm="100000">
                                          <p:val>
                                            <p:strVal val="#ppt_y"/>
                                          </p:val>
                                        </p:tav>
                                      </p:tavLst>
                                    </p:anim>
                                  </p:childTnLst>
                                </p:cTn>
                              </p:par>
                              <p:par>
                                <p:cTn id="22" presetID="10" presetClass="entr" presetSubtype="0" fill="hold" grpId="0" nodeType="withEffect">
                                  <p:stCondLst>
                                    <p:cond delay="125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9" grpId="0"/>
    </p:bldLst>
  </p:timing>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9" name="等腰三角形 3"/>
          <p:cNvSpPr/>
          <p:nvPr userDrawn="1"/>
        </p:nvSpPr>
        <p:spPr>
          <a:xfrm rot="5400000">
            <a:off x="3539717" y="368661"/>
            <a:ext cx="2952326" cy="10081120"/>
          </a:xfrm>
          <a:custGeom>
            <a:avLst/>
            <a:gdLst>
              <a:gd name="connsiteX0" fmla="*/ 0 w 3632287"/>
              <a:gd name="connsiteY0" fmla="*/ 7116055 h 7116055"/>
              <a:gd name="connsiteX1" fmla="*/ 1816144 w 3632287"/>
              <a:gd name="connsiteY1" fmla="*/ 0 h 7116055"/>
              <a:gd name="connsiteX2" fmla="*/ 3632287 w 3632287"/>
              <a:gd name="connsiteY2" fmla="*/ 7116055 h 7116055"/>
              <a:gd name="connsiteX3" fmla="*/ 0 w 3632287"/>
              <a:gd name="connsiteY3" fmla="*/ 7116055 h 7116055"/>
              <a:gd name="connsiteX0-1" fmla="*/ 0 w 3632287"/>
              <a:gd name="connsiteY0-2" fmla="*/ 8335255 h 8335255"/>
              <a:gd name="connsiteX1-3" fmla="*/ 3618440 w 3632287"/>
              <a:gd name="connsiteY1-4" fmla="*/ 0 h 8335255"/>
              <a:gd name="connsiteX2-5" fmla="*/ 3632287 w 3632287"/>
              <a:gd name="connsiteY2-6" fmla="*/ 8335255 h 8335255"/>
              <a:gd name="connsiteX3-7" fmla="*/ 0 w 3632287"/>
              <a:gd name="connsiteY3-8" fmla="*/ 8335255 h 8335255"/>
            </a:gdLst>
            <a:ahLst/>
            <a:cxnLst>
              <a:cxn ang="0">
                <a:pos x="connsiteX0-1" y="connsiteY0-2"/>
              </a:cxn>
              <a:cxn ang="0">
                <a:pos x="connsiteX1-3" y="connsiteY1-4"/>
              </a:cxn>
              <a:cxn ang="0">
                <a:pos x="connsiteX2-5" y="connsiteY2-6"/>
              </a:cxn>
              <a:cxn ang="0">
                <a:pos x="connsiteX3-7" y="connsiteY3-8"/>
              </a:cxn>
            </a:cxnLst>
            <a:rect l="l" t="t" r="r" b="b"/>
            <a:pathLst>
              <a:path w="3632287" h="8335255">
                <a:moveTo>
                  <a:pt x="0" y="8335255"/>
                </a:moveTo>
                <a:lnTo>
                  <a:pt x="3618440" y="0"/>
                </a:lnTo>
                <a:cubicBezTo>
                  <a:pt x="3623056" y="2778418"/>
                  <a:pt x="3627671" y="5556837"/>
                  <a:pt x="3632287" y="8335255"/>
                </a:cubicBezTo>
                <a:lnTo>
                  <a:pt x="0" y="833525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988F5"/>
              </a:solidFill>
            </a:endParaRPr>
          </a:p>
        </p:txBody>
      </p:sp>
      <p:sp>
        <p:nvSpPr>
          <p:cNvPr id="10" name="等腰三角形 3"/>
          <p:cNvSpPr/>
          <p:nvPr userDrawn="1"/>
        </p:nvSpPr>
        <p:spPr>
          <a:xfrm rot="5400000">
            <a:off x="3986954" y="815896"/>
            <a:ext cx="2057852" cy="10081120"/>
          </a:xfrm>
          <a:custGeom>
            <a:avLst/>
            <a:gdLst>
              <a:gd name="connsiteX0" fmla="*/ 0 w 3632287"/>
              <a:gd name="connsiteY0" fmla="*/ 7116055 h 7116055"/>
              <a:gd name="connsiteX1" fmla="*/ 1816144 w 3632287"/>
              <a:gd name="connsiteY1" fmla="*/ 0 h 7116055"/>
              <a:gd name="connsiteX2" fmla="*/ 3632287 w 3632287"/>
              <a:gd name="connsiteY2" fmla="*/ 7116055 h 7116055"/>
              <a:gd name="connsiteX3" fmla="*/ 0 w 3632287"/>
              <a:gd name="connsiteY3" fmla="*/ 7116055 h 7116055"/>
              <a:gd name="connsiteX0-1" fmla="*/ 0 w 3632287"/>
              <a:gd name="connsiteY0-2" fmla="*/ 8335255 h 8335255"/>
              <a:gd name="connsiteX1-3" fmla="*/ 3618440 w 3632287"/>
              <a:gd name="connsiteY1-4" fmla="*/ 0 h 8335255"/>
              <a:gd name="connsiteX2-5" fmla="*/ 3632287 w 3632287"/>
              <a:gd name="connsiteY2-6" fmla="*/ 8335255 h 8335255"/>
              <a:gd name="connsiteX3-7" fmla="*/ 0 w 3632287"/>
              <a:gd name="connsiteY3-8" fmla="*/ 8335255 h 8335255"/>
            </a:gdLst>
            <a:ahLst/>
            <a:cxnLst>
              <a:cxn ang="0">
                <a:pos x="connsiteX0-1" y="connsiteY0-2"/>
              </a:cxn>
              <a:cxn ang="0">
                <a:pos x="connsiteX1-3" y="connsiteY1-4"/>
              </a:cxn>
              <a:cxn ang="0">
                <a:pos x="connsiteX2-5" y="connsiteY2-6"/>
              </a:cxn>
              <a:cxn ang="0">
                <a:pos x="connsiteX3-7" y="connsiteY3-8"/>
              </a:cxn>
            </a:cxnLst>
            <a:rect l="l" t="t" r="r" b="b"/>
            <a:pathLst>
              <a:path w="3632287" h="8335255">
                <a:moveTo>
                  <a:pt x="0" y="8335255"/>
                </a:moveTo>
                <a:lnTo>
                  <a:pt x="3618440" y="0"/>
                </a:lnTo>
                <a:cubicBezTo>
                  <a:pt x="3623056" y="2778418"/>
                  <a:pt x="3627671" y="5556837"/>
                  <a:pt x="3632287" y="8335255"/>
                </a:cubicBezTo>
                <a:lnTo>
                  <a:pt x="0" y="8335255"/>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988F5"/>
              </a:solidFill>
            </a:endParaRPr>
          </a:p>
        </p:txBody>
      </p:sp>
      <p:grpSp>
        <p:nvGrpSpPr>
          <p:cNvPr id="11" name="组合 10"/>
          <p:cNvGrpSpPr/>
          <p:nvPr userDrawn="1"/>
        </p:nvGrpSpPr>
        <p:grpSpPr>
          <a:xfrm>
            <a:off x="2495600" y="2164363"/>
            <a:ext cx="720080" cy="2088232"/>
            <a:chOff x="1846734" y="2492896"/>
            <a:chExt cx="720080" cy="2088232"/>
          </a:xfrm>
          <a:solidFill>
            <a:schemeClr val="accent4"/>
          </a:solidFill>
        </p:grpSpPr>
        <p:sp>
          <p:nvSpPr>
            <p:cNvPr id="12" name="矩形 11"/>
            <p:cNvSpPr/>
            <p:nvPr/>
          </p:nvSpPr>
          <p:spPr>
            <a:xfrm>
              <a:off x="1846734" y="2492896"/>
              <a:ext cx="720080"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846734" y="4535409"/>
              <a:ext cx="720080"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5400000">
              <a:off x="836908" y="3525583"/>
              <a:ext cx="2065371"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rot="10800000">
            <a:off x="4295800" y="2164363"/>
            <a:ext cx="720080" cy="2088232"/>
            <a:chOff x="1846734" y="2492896"/>
            <a:chExt cx="720080" cy="2088232"/>
          </a:xfrm>
          <a:solidFill>
            <a:schemeClr val="accent4"/>
          </a:solidFill>
        </p:grpSpPr>
        <p:sp>
          <p:nvSpPr>
            <p:cNvPr id="16" name="矩形 15"/>
            <p:cNvSpPr/>
            <p:nvPr/>
          </p:nvSpPr>
          <p:spPr>
            <a:xfrm>
              <a:off x="1846734" y="2492896"/>
              <a:ext cx="720080"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846734" y="4535409"/>
              <a:ext cx="720080"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5400000">
              <a:off x="836908" y="3525583"/>
              <a:ext cx="2065371"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文本框 9"/>
          <p:cNvSpPr txBox="1"/>
          <p:nvPr userDrawn="1"/>
        </p:nvSpPr>
        <p:spPr>
          <a:xfrm>
            <a:off x="3072361" y="1988841"/>
            <a:ext cx="1387239" cy="2623795"/>
          </a:xfrm>
          <a:prstGeom prst="rect">
            <a:avLst/>
          </a:prstGeom>
          <a:noFill/>
        </p:spPr>
        <p:txBody>
          <a:bodyPr wrap="none" lIns="68580" tIns="34290" rIns="68580" bIns="34290" rtlCol="0">
            <a:spAutoFit/>
          </a:bodyPr>
          <a:lstStyle/>
          <a:p>
            <a:pPr marL="0" lvl="1" algn="ctr"/>
            <a:r>
              <a:rPr lang="en-US" altLang="zh-CN" sz="16600" dirty="0">
                <a:solidFill>
                  <a:schemeClr val="tx2"/>
                </a:solidFill>
                <a:latin typeface="微软雅黑" panose="020B0503020204020204" charset="-122"/>
                <a:ea typeface="微软雅黑" panose="020B0503020204020204" charset="-122"/>
              </a:rPr>
              <a:t>2</a:t>
            </a:r>
            <a:endParaRPr lang="zh-CN" altLang="en-US" sz="16600" dirty="0">
              <a:solidFill>
                <a:schemeClr val="tx2"/>
              </a:solidFill>
              <a:latin typeface="微软雅黑" panose="020B0503020204020204" charset="-122"/>
              <a:ea typeface="微软雅黑" panose="020B0503020204020204" charset="-122"/>
            </a:endParaRPr>
          </a:p>
        </p:txBody>
      </p:sp>
      <p:sp>
        <p:nvSpPr>
          <p:cNvPr id="2" name="标题 1"/>
          <p:cNvSpPr>
            <a:spLocks noGrp="1"/>
          </p:cNvSpPr>
          <p:nvPr>
            <p:ph type="title" hasCustomPrompt="1"/>
          </p:nvPr>
        </p:nvSpPr>
        <p:spPr>
          <a:xfrm>
            <a:off x="5295121" y="1988841"/>
            <a:ext cx="5071706" cy="830998"/>
          </a:xfrm>
        </p:spPr>
        <p:txBody>
          <a:bodyPr anchor="b">
            <a:normAutofit/>
          </a:bodyPr>
          <a:lstStyle>
            <a:lvl1pPr>
              <a:defRPr sz="4800" b="0">
                <a:solidFill>
                  <a:schemeClr val="tx2"/>
                </a:solidFill>
              </a:defRPr>
            </a:lvl1pPr>
          </a:lstStyle>
          <a:p>
            <a:r>
              <a:rPr lang="zh-CN" altLang="en-US" dirty="0"/>
              <a:t>编辑标题</a:t>
            </a:r>
            <a:endParaRPr lang="zh-CN" altLang="en-US" dirty="0"/>
          </a:p>
        </p:txBody>
      </p:sp>
      <p:sp>
        <p:nvSpPr>
          <p:cNvPr id="3" name="文本占位符 2"/>
          <p:cNvSpPr>
            <a:spLocks noGrp="1"/>
          </p:cNvSpPr>
          <p:nvPr>
            <p:ph type="body" idx="1"/>
          </p:nvPr>
        </p:nvSpPr>
        <p:spPr>
          <a:xfrm>
            <a:off x="5295121" y="2866631"/>
            <a:ext cx="5071706" cy="464785"/>
          </a:xfrm>
        </p:spPr>
        <p:txBody>
          <a:bodyPr/>
          <a:lstStyle>
            <a:lvl1pPr marL="0" indent="0">
              <a:buNone/>
              <a:defRPr sz="2400">
                <a:solidFill>
                  <a:schemeClr val="tx2"/>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Autofit/>
          </a:bodyPr>
          <a:lstStyle>
            <a:lvl1pPr>
              <a:defRPr sz="1500"/>
            </a:lvl1pPr>
          </a:lstStyle>
          <a:p>
            <a:r>
              <a:rPr lang="zh-CN" altLang="en-US" dirty="0">
                <a:sym typeface="+mn-ea"/>
              </a:rPr>
              <a:t>MAE</a:t>
            </a:r>
            <a:r>
              <a:rPr lang="en-US" altLang="zh-CN" dirty="0">
                <a:sym typeface="+mn-ea"/>
              </a:rPr>
              <a:t>302</a:t>
            </a:r>
            <a:endParaRPr lang="zh-CN" altLang="en-US" dirty="0">
              <a:sym typeface="+mn-ea"/>
            </a:endParaRPr>
          </a:p>
        </p:txBody>
      </p:sp>
      <p:sp>
        <p:nvSpPr>
          <p:cNvPr id="6" name="灯片编号占位符 5"/>
          <p:cNvSpPr>
            <a:spLocks noGrp="1"/>
          </p:cNvSpPr>
          <p:nvPr>
            <p:ph type="sldNum" sz="quarter" idx="12"/>
          </p:nvPr>
        </p:nvSpPr>
        <p:spPr/>
        <p:txBody>
          <a:bodyPr>
            <a:noAutofit/>
          </a:bodyPr>
          <a:lstStyle>
            <a:lvl1pPr>
              <a:defRPr sz="1500"/>
            </a:lvl1pPr>
          </a:lstStyle>
          <a:p>
            <a:fld id="{49AE70B2-8BF9-45C0-BB95-33D1B9D3A854}" type="slidenum">
              <a:rPr lang="zh-CN" altLang="en-US" smtClean="0"/>
            </a:fld>
            <a:endParaRPr lang="zh-CN" altLang="en-US"/>
          </a:p>
        </p:txBody>
      </p:sp>
      <p:pic>
        <p:nvPicPr>
          <p:cNvPr id="20" name="图片 19" descr="QQ图片20190817131614"/>
          <p:cNvPicPr>
            <a:picLocks noChangeAspect="1"/>
          </p:cNvPicPr>
          <p:nvPr userDrawn="1"/>
        </p:nvPicPr>
        <p:blipFill>
          <a:blip r:embed="rId2"/>
          <a:stretch>
            <a:fillRect/>
          </a:stretch>
        </p:blipFill>
        <p:spPr>
          <a:xfrm>
            <a:off x="7456805" y="-1162050"/>
            <a:ext cx="4827270" cy="34131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fill="hold" nodeType="withEffect">
                                  <p:stCondLst>
                                    <p:cond delay="75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0-#ppt_w/2"/>
                                          </p:val>
                                        </p:tav>
                                        <p:tav tm="100000">
                                          <p:val>
                                            <p:strVal val="#ppt_x"/>
                                          </p:val>
                                        </p:tav>
                                      </p:tavLst>
                                    </p:anim>
                                    <p:anim calcmode="lin" valueType="num">
                                      <p:cBhvr additive="base">
                                        <p:cTn id="17" dur="500" fill="hold"/>
                                        <p:tgtEl>
                                          <p:spTgt spid="11"/>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75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1+#ppt_w/2"/>
                                          </p:val>
                                        </p:tav>
                                        <p:tav tm="100000">
                                          <p:val>
                                            <p:strVal val="#ppt_x"/>
                                          </p:val>
                                        </p:tav>
                                      </p:tavLst>
                                    </p:anim>
                                    <p:anim calcmode="lin" valueType="num">
                                      <p:cBhvr additive="base">
                                        <p:cTn id="21" dur="500" fill="hold"/>
                                        <p:tgtEl>
                                          <p:spTgt spid="15"/>
                                        </p:tgtEl>
                                        <p:attrNameLst>
                                          <p:attrName>ppt_y</p:attrName>
                                        </p:attrNameLst>
                                      </p:cBhvr>
                                      <p:tavLst>
                                        <p:tav tm="0">
                                          <p:val>
                                            <p:strVal val="#ppt_y"/>
                                          </p:val>
                                        </p:tav>
                                        <p:tav tm="100000">
                                          <p:val>
                                            <p:strVal val="#ppt_y"/>
                                          </p:val>
                                        </p:tav>
                                      </p:tavLst>
                                    </p:anim>
                                  </p:childTnLst>
                                </p:cTn>
                              </p:par>
                              <p:par>
                                <p:cTn id="22" presetID="10" presetClass="entr" presetSubtype="0" fill="hold" grpId="0" nodeType="withEffect">
                                  <p:stCondLst>
                                    <p:cond delay="125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9" grpId="0"/>
    </p:bldLst>
  </p:timing>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9" name="等腰三角形 3"/>
          <p:cNvSpPr/>
          <p:nvPr userDrawn="1"/>
        </p:nvSpPr>
        <p:spPr>
          <a:xfrm rot="5400000">
            <a:off x="3539717" y="368661"/>
            <a:ext cx="2952326" cy="10081120"/>
          </a:xfrm>
          <a:custGeom>
            <a:avLst/>
            <a:gdLst>
              <a:gd name="connsiteX0" fmla="*/ 0 w 3632287"/>
              <a:gd name="connsiteY0" fmla="*/ 7116055 h 7116055"/>
              <a:gd name="connsiteX1" fmla="*/ 1816144 w 3632287"/>
              <a:gd name="connsiteY1" fmla="*/ 0 h 7116055"/>
              <a:gd name="connsiteX2" fmla="*/ 3632287 w 3632287"/>
              <a:gd name="connsiteY2" fmla="*/ 7116055 h 7116055"/>
              <a:gd name="connsiteX3" fmla="*/ 0 w 3632287"/>
              <a:gd name="connsiteY3" fmla="*/ 7116055 h 7116055"/>
              <a:gd name="connsiteX0-1" fmla="*/ 0 w 3632287"/>
              <a:gd name="connsiteY0-2" fmla="*/ 8335255 h 8335255"/>
              <a:gd name="connsiteX1-3" fmla="*/ 3618440 w 3632287"/>
              <a:gd name="connsiteY1-4" fmla="*/ 0 h 8335255"/>
              <a:gd name="connsiteX2-5" fmla="*/ 3632287 w 3632287"/>
              <a:gd name="connsiteY2-6" fmla="*/ 8335255 h 8335255"/>
              <a:gd name="connsiteX3-7" fmla="*/ 0 w 3632287"/>
              <a:gd name="connsiteY3-8" fmla="*/ 8335255 h 8335255"/>
            </a:gdLst>
            <a:ahLst/>
            <a:cxnLst>
              <a:cxn ang="0">
                <a:pos x="connsiteX0-1" y="connsiteY0-2"/>
              </a:cxn>
              <a:cxn ang="0">
                <a:pos x="connsiteX1-3" y="connsiteY1-4"/>
              </a:cxn>
              <a:cxn ang="0">
                <a:pos x="connsiteX2-5" y="connsiteY2-6"/>
              </a:cxn>
              <a:cxn ang="0">
                <a:pos x="connsiteX3-7" y="connsiteY3-8"/>
              </a:cxn>
            </a:cxnLst>
            <a:rect l="l" t="t" r="r" b="b"/>
            <a:pathLst>
              <a:path w="3632287" h="8335255">
                <a:moveTo>
                  <a:pt x="0" y="8335255"/>
                </a:moveTo>
                <a:lnTo>
                  <a:pt x="3618440" y="0"/>
                </a:lnTo>
                <a:cubicBezTo>
                  <a:pt x="3623056" y="2778418"/>
                  <a:pt x="3627671" y="5556837"/>
                  <a:pt x="3632287" y="8335255"/>
                </a:cubicBezTo>
                <a:lnTo>
                  <a:pt x="0" y="833525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988F5"/>
              </a:solidFill>
            </a:endParaRPr>
          </a:p>
        </p:txBody>
      </p:sp>
      <p:sp>
        <p:nvSpPr>
          <p:cNvPr id="10" name="等腰三角形 3"/>
          <p:cNvSpPr/>
          <p:nvPr userDrawn="1"/>
        </p:nvSpPr>
        <p:spPr>
          <a:xfrm rot="5400000">
            <a:off x="3986954" y="815896"/>
            <a:ext cx="2057852" cy="10081120"/>
          </a:xfrm>
          <a:custGeom>
            <a:avLst/>
            <a:gdLst>
              <a:gd name="connsiteX0" fmla="*/ 0 w 3632287"/>
              <a:gd name="connsiteY0" fmla="*/ 7116055 h 7116055"/>
              <a:gd name="connsiteX1" fmla="*/ 1816144 w 3632287"/>
              <a:gd name="connsiteY1" fmla="*/ 0 h 7116055"/>
              <a:gd name="connsiteX2" fmla="*/ 3632287 w 3632287"/>
              <a:gd name="connsiteY2" fmla="*/ 7116055 h 7116055"/>
              <a:gd name="connsiteX3" fmla="*/ 0 w 3632287"/>
              <a:gd name="connsiteY3" fmla="*/ 7116055 h 7116055"/>
              <a:gd name="connsiteX0-1" fmla="*/ 0 w 3632287"/>
              <a:gd name="connsiteY0-2" fmla="*/ 8335255 h 8335255"/>
              <a:gd name="connsiteX1-3" fmla="*/ 3618440 w 3632287"/>
              <a:gd name="connsiteY1-4" fmla="*/ 0 h 8335255"/>
              <a:gd name="connsiteX2-5" fmla="*/ 3632287 w 3632287"/>
              <a:gd name="connsiteY2-6" fmla="*/ 8335255 h 8335255"/>
              <a:gd name="connsiteX3-7" fmla="*/ 0 w 3632287"/>
              <a:gd name="connsiteY3-8" fmla="*/ 8335255 h 8335255"/>
            </a:gdLst>
            <a:ahLst/>
            <a:cxnLst>
              <a:cxn ang="0">
                <a:pos x="connsiteX0-1" y="connsiteY0-2"/>
              </a:cxn>
              <a:cxn ang="0">
                <a:pos x="connsiteX1-3" y="connsiteY1-4"/>
              </a:cxn>
              <a:cxn ang="0">
                <a:pos x="connsiteX2-5" y="connsiteY2-6"/>
              </a:cxn>
              <a:cxn ang="0">
                <a:pos x="connsiteX3-7" y="connsiteY3-8"/>
              </a:cxn>
            </a:cxnLst>
            <a:rect l="l" t="t" r="r" b="b"/>
            <a:pathLst>
              <a:path w="3632287" h="8335255">
                <a:moveTo>
                  <a:pt x="0" y="8335255"/>
                </a:moveTo>
                <a:lnTo>
                  <a:pt x="3618440" y="0"/>
                </a:lnTo>
                <a:cubicBezTo>
                  <a:pt x="3623056" y="2778418"/>
                  <a:pt x="3627671" y="5556837"/>
                  <a:pt x="3632287" y="8335255"/>
                </a:cubicBezTo>
                <a:lnTo>
                  <a:pt x="0" y="8335255"/>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988F5"/>
              </a:solidFill>
            </a:endParaRPr>
          </a:p>
        </p:txBody>
      </p:sp>
      <p:grpSp>
        <p:nvGrpSpPr>
          <p:cNvPr id="11" name="组合 10"/>
          <p:cNvGrpSpPr/>
          <p:nvPr userDrawn="1"/>
        </p:nvGrpSpPr>
        <p:grpSpPr>
          <a:xfrm>
            <a:off x="2495600" y="2164363"/>
            <a:ext cx="720080" cy="2088232"/>
            <a:chOff x="1846734" y="2492896"/>
            <a:chExt cx="720080" cy="2088232"/>
          </a:xfrm>
          <a:solidFill>
            <a:schemeClr val="accent4"/>
          </a:solidFill>
        </p:grpSpPr>
        <p:sp>
          <p:nvSpPr>
            <p:cNvPr id="12" name="矩形 11"/>
            <p:cNvSpPr/>
            <p:nvPr/>
          </p:nvSpPr>
          <p:spPr>
            <a:xfrm>
              <a:off x="1846734" y="2492896"/>
              <a:ext cx="720080"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846734" y="4535409"/>
              <a:ext cx="720080"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5400000">
              <a:off x="836908" y="3525583"/>
              <a:ext cx="2065371"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rot="10800000">
            <a:off x="4295800" y="2164363"/>
            <a:ext cx="720080" cy="2088232"/>
            <a:chOff x="1846734" y="2492896"/>
            <a:chExt cx="720080" cy="2088232"/>
          </a:xfrm>
          <a:solidFill>
            <a:schemeClr val="accent4"/>
          </a:solidFill>
        </p:grpSpPr>
        <p:sp>
          <p:nvSpPr>
            <p:cNvPr id="16" name="矩形 15"/>
            <p:cNvSpPr/>
            <p:nvPr/>
          </p:nvSpPr>
          <p:spPr>
            <a:xfrm>
              <a:off x="1846734" y="2492896"/>
              <a:ext cx="720080"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846734" y="4535409"/>
              <a:ext cx="720080"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5400000">
              <a:off x="836908" y="3525583"/>
              <a:ext cx="2065371" cy="45719"/>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文本框 9"/>
          <p:cNvSpPr txBox="1"/>
          <p:nvPr userDrawn="1"/>
        </p:nvSpPr>
        <p:spPr>
          <a:xfrm>
            <a:off x="3072361" y="1988841"/>
            <a:ext cx="1387239" cy="2623795"/>
          </a:xfrm>
          <a:prstGeom prst="rect">
            <a:avLst/>
          </a:prstGeom>
          <a:noFill/>
        </p:spPr>
        <p:txBody>
          <a:bodyPr wrap="none" lIns="68580" tIns="34290" rIns="68580" bIns="34290" rtlCol="0">
            <a:spAutoFit/>
          </a:bodyPr>
          <a:lstStyle/>
          <a:p>
            <a:pPr marL="0" lvl="1" algn="ctr"/>
            <a:r>
              <a:rPr lang="en-US" altLang="zh-CN" sz="16600" dirty="0">
                <a:solidFill>
                  <a:schemeClr val="tx2"/>
                </a:solidFill>
                <a:latin typeface="微软雅黑" panose="020B0503020204020204" charset="-122"/>
                <a:ea typeface="微软雅黑" panose="020B0503020204020204" charset="-122"/>
              </a:rPr>
              <a:t>3</a:t>
            </a:r>
            <a:endParaRPr lang="zh-CN" altLang="en-US" sz="16600" dirty="0">
              <a:solidFill>
                <a:schemeClr val="tx2"/>
              </a:solidFill>
              <a:latin typeface="微软雅黑" panose="020B0503020204020204" charset="-122"/>
              <a:ea typeface="微软雅黑" panose="020B0503020204020204" charset="-122"/>
            </a:endParaRPr>
          </a:p>
        </p:txBody>
      </p:sp>
      <p:sp>
        <p:nvSpPr>
          <p:cNvPr id="2" name="标题 1"/>
          <p:cNvSpPr>
            <a:spLocks noGrp="1"/>
          </p:cNvSpPr>
          <p:nvPr>
            <p:ph type="title" hasCustomPrompt="1"/>
          </p:nvPr>
        </p:nvSpPr>
        <p:spPr>
          <a:xfrm>
            <a:off x="5295121" y="1988841"/>
            <a:ext cx="5071706" cy="830998"/>
          </a:xfrm>
        </p:spPr>
        <p:txBody>
          <a:bodyPr anchor="b">
            <a:normAutofit/>
          </a:bodyPr>
          <a:lstStyle>
            <a:lvl1pPr>
              <a:defRPr sz="4800" b="0">
                <a:solidFill>
                  <a:schemeClr val="tx2"/>
                </a:solidFill>
              </a:defRPr>
            </a:lvl1pPr>
          </a:lstStyle>
          <a:p>
            <a:r>
              <a:rPr lang="zh-CN" altLang="en-US" dirty="0"/>
              <a:t>编辑标题</a:t>
            </a:r>
            <a:endParaRPr lang="zh-CN" altLang="en-US" dirty="0"/>
          </a:p>
        </p:txBody>
      </p:sp>
      <p:sp>
        <p:nvSpPr>
          <p:cNvPr id="3" name="文本占位符 2"/>
          <p:cNvSpPr>
            <a:spLocks noGrp="1"/>
          </p:cNvSpPr>
          <p:nvPr>
            <p:ph type="body" idx="1"/>
          </p:nvPr>
        </p:nvSpPr>
        <p:spPr>
          <a:xfrm>
            <a:off x="5295121" y="2866631"/>
            <a:ext cx="5071706" cy="464785"/>
          </a:xfrm>
        </p:spPr>
        <p:txBody>
          <a:bodyPr/>
          <a:lstStyle>
            <a:lvl1pPr marL="0" indent="0">
              <a:buNone/>
              <a:defRPr sz="2400">
                <a:solidFill>
                  <a:schemeClr val="tx2"/>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Autofit/>
          </a:bodyPr>
          <a:lstStyle>
            <a:lvl1pPr>
              <a:defRPr sz="1500"/>
            </a:lvl1pPr>
          </a:lstStyle>
          <a:p>
            <a:r>
              <a:rPr lang="zh-CN" altLang="en-US" dirty="0">
                <a:sym typeface="+mn-ea"/>
              </a:rPr>
              <a:t>MAE</a:t>
            </a:r>
            <a:r>
              <a:rPr lang="en-US" altLang="zh-CN" dirty="0">
                <a:sym typeface="+mn-ea"/>
              </a:rPr>
              <a:t>302</a:t>
            </a:r>
            <a:endParaRPr lang="zh-CN" altLang="en-US" dirty="0">
              <a:sym typeface="+mn-ea"/>
            </a:endParaRPr>
          </a:p>
        </p:txBody>
      </p:sp>
      <p:sp>
        <p:nvSpPr>
          <p:cNvPr id="6" name="灯片编号占位符 5"/>
          <p:cNvSpPr>
            <a:spLocks noGrp="1"/>
          </p:cNvSpPr>
          <p:nvPr>
            <p:ph type="sldNum" sz="quarter" idx="12"/>
          </p:nvPr>
        </p:nvSpPr>
        <p:spPr/>
        <p:txBody>
          <a:bodyPr>
            <a:noAutofit/>
          </a:bodyPr>
          <a:lstStyle>
            <a:lvl1pPr>
              <a:defRPr sz="1500"/>
            </a:lvl1pPr>
          </a:lstStyle>
          <a:p>
            <a:fld id="{49AE70B2-8BF9-45C0-BB95-33D1B9D3A854}" type="slidenum">
              <a:rPr lang="zh-CN" altLang="en-US" smtClean="0"/>
            </a:fld>
            <a:endParaRPr lang="zh-CN" altLang="en-US"/>
          </a:p>
        </p:txBody>
      </p:sp>
      <p:pic>
        <p:nvPicPr>
          <p:cNvPr id="20" name="图片 19" descr="QQ图片20190817131614"/>
          <p:cNvPicPr>
            <a:picLocks noChangeAspect="1"/>
          </p:cNvPicPr>
          <p:nvPr userDrawn="1"/>
        </p:nvPicPr>
        <p:blipFill>
          <a:blip r:embed="rId2"/>
          <a:stretch>
            <a:fillRect/>
          </a:stretch>
        </p:blipFill>
        <p:spPr>
          <a:xfrm>
            <a:off x="7456805" y="-1162050"/>
            <a:ext cx="4827270" cy="34131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fill="hold" nodeType="withEffect">
                                  <p:stCondLst>
                                    <p:cond delay="75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0-#ppt_w/2"/>
                                          </p:val>
                                        </p:tav>
                                        <p:tav tm="100000">
                                          <p:val>
                                            <p:strVal val="#ppt_x"/>
                                          </p:val>
                                        </p:tav>
                                      </p:tavLst>
                                    </p:anim>
                                    <p:anim calcmode="lin" valueType="num">
                                      <p:cBhvr additive="base">
                                        <p:cTn id="17" dur="500" fill="hold"/>
                                        <p:tgtEl>
                                          <p:spTgt spid="11"/>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75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1+#ppt_w/2"/>
                                          </p:val>
                                        </p:tav>
                                        <p:tav tm="100000">
                                          <p:val>
                                            <p:strVal val="#ppt_x"/>
                                          </p:val>
                                        </p:tav>
                                      </p:tavLst>
                                    </p:anim>
                                    <p:anim calcmode="lin" valueType="num">
                                      <p:cBhvr additive="base">
                                        <p:cTn id="21" dur="500" fill="hold"/>
                                        <p:tgtEl>
                                          <p:spTgt spid="15"/>
                                        </p:tgtEl>
                                        <p:attrNameLst>
                                          <p:attrName>ppt_y</p:attrName>
                                        </p:attrNameLst>
                                      </p:cBhvr>
                                      <p:tavLst>
                                        <p:tav tm="0">
                                          <p:val>
                                            <p:strVal val="#ppt_y"/>
                                          </p:val>
                                        </p:tav>
                                        <p:tav tm="100000">
                                          <p:val>
                                            <p:strVal val="#ppt_y"/>
                                          </p:val>
                                        </p:tav>
                                      </p:tavLst>
                                    </p:anim>
                                  </p:childTnLst>
                                </p:cTn>
                              </p:par>
                              <p:par>
                                <p:cTn id="22" presetID="10" presetClass="entr" presetSubtype="0" fill="hold" grpId="0" nodeType="withEffect">
                                  <p:stCondLst>
                                    <p:cond delay="125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9" grpId="0"/>
    </p:bldLst>
  </p:timing>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tx2"/>
                </a:solidFill>
              </a:defRPr>
            </a:lvl1p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6172200" y="1825625"/>
            <a:ext cx="5181600" cy="435133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noAutofit/>
          </a:bodyPr>
          <a:lstStyle>
            <a:lvl1pPr>
              <a:defRPr sz="1500"/>
            </a:lvl1pPr>
          </a:lstStyle>
          <a:p>
            <a:r>
              <a:rPr lang="zh-CN" altLang="en-US" dirty="0">
                <a:sym typeface="+mn-ea"/>
              </a:rPr>
              <a:t>MA</a:t>
            </a:r>
            <a:r>
              <a:rPr lang="en-US" altLang="zh-CN" dirty="0">
                <a:sym typeface="+mn-ea"/>
              </a:rPr>
              <a:t>E302</a:t>
            </a:r>
            <a:endParaRPr lang="en-US" altLang="zh-CN" dirty="0">
              <a:sym typeface="+mn-ea"/>
            </a:endParaRPr>
          </a:p>
        </p:txBody>
      </p:sp>
      <p:sp>
        <p:nvSpPr>
          <p:cNvPr id="7" name="灯片编号占位符 6"/>
          <p:cNvSpPr>
            <a:spLocks noGrp="1"/>
          </p:cNvSpPr>
          <p:nvPr>
            <p:ph type="sldNum" sz="quarter" idx="12"/>
          </p:nvPr>
        </p:nvSpPr>
        <p:spPr/>
        <p:txBody>
          <a:bodyPr>
            <a:noAutofit/>
          </a:bodyPr>
          <a:lstStyle>
            <a:lvl1pPr>
              <a:defRPr sz="1500"/>
            </a:lvl1pPr>
          </a:lstStyle>
          <a:p>
            <a:fld id="{49AE70B2-8BF9-45C0-BB95-33D1B9D3A854}" type="slidenum">
              <a:rPr lang="zh-CN" altLang="en-US" smtClean="0"/>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218"/>
          <a:stretch>
            <a:fillRect/>
          </a:stretch>
        </p:blipFill>
        <p:spPr>
          <a:xfrm>
            <a:off x="7188972" y="1982093"/>
            <a:ext cx="4464044" cy="3103090"/>
          </a:xfrm>
          <a:prstGeom prst="rect">
            <a:avLst/>
          </a:prstGeom>
        </p:spPr>
      </p:pic>
      <p:sp>
        <p:nvSpPr>
          <p:cNvPr id="7" name="矩形 6"/>
          <p:cNvSpPr/>
          <p:nvPr/>
        </p:nvSpPr>
        <p:spPr>
          <a:xfrm>
            <a:off x="6900940" y="3023241"/>
            <a:ext cx="4752528" cy="4571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900940" y="4077072"/>
            <a:ext cx="4752528" cy="4571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rot="5400000">
            <a:off x="5905629" y="3910201"/>
            <a:ext cx="4752528" cy="4571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5400000">
            <a:off x="7008356" y="3910199"/>
            <a:ext cx="4752528" cy="4571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5400000">
            <a:off x="8174960" y="3982207"/>
            <a:ext cx="4752528" cy="4571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17476" y="1988839"/>
            <a:ext cx="6455246" cy="309634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314812" y="3068960"/>
            <a:ext cx="1060688" cy="1034401"/>
          </a:xfrm>
          <a:prstGeom prst="rect">
            <a:avLst/>
          </a:prstGeom>
          <a:solidFill>
            <a:schemeClr val="accent1">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421220" y="1988840"/>
            <a:ext cx="1106408" cy="1034401"/>
          </a:xfrm>
          <a:prstGeom prst="rect">
            <a:avLst/>
          </a:prstGeom>
          <a:solidFill>
            <a:schemeClr val="accent4">
              <a:alpha val="6902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188972" y="4122790"/>
            <a:ext cx="1080120" cy="962394"/>
          </a:xfrm>
          <a:prstGeom prst="rect">
            <a:avLst/>
          </a:prstGeom>
          <a:solidFill>
            <a:schemeClr val="accent4">
              <a:alpha val="6902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
          <p:cNvSpPr/>
          <p:nvPr/>
        </p:nvSpPr>
        <p:spPr>
          <a:xfrm>
            <a:off x="10510842" y="1"/>
            <a:ext cx="1512168" cy="1196752"/>
          </a:xfrm>
          <a:custGeom>
            <a:avLst/>
            <a:gdLst>
              <a:gd name="connsiteX0" fmla="*/ 0 w 1512168"/>
              <a:gd name="connsiteY0" fmla="*/ 0 h 1268760"/>
              <a:gd name="connsiteX1" fmla="*/ 1512168 w 1512168"/>
              <a:gd name="connsiteY1" fmla="*/ 0 h 1268760"/>
              <a:gd name="connsiteX2" fmla="*/ 1512168 w 1512168"/>
              <a:gd name="connsiteY2" fmla="*/ 1268760 h 1268760"/>
              <a:gd name="connsiteX3" fmla="*/ 0 w 1512168"/>
              <a:gd name="connsiteY3" fmla="*/ 1268760 h 1268760"/>
              <a:gd name="connsiteX4" fmla="*/ 0 w 1512168"/>
              <a:gd name="connsiteY4" fmla="*/ 0 h 1268760"/>
              <a:gd name="connsiteX0-1" fmla="*/ 0 w 1512168"/>
              <a:gd name="connsiteY0-2" fmla="*/ 0 h 1268760"/>
              <a:gd name="connsiteX1-3" fmla="*/ 1512168 w 1512168"/>
              <a:gd name="connsiteY1-4" fmla="*/ 0 h 1268760"/>
              <a:gd name="connsiteX2-5" fmla="*/ 1512168 w 1512168"/>
              <a:gd name="connsiteY2-6" fmla="*/ 1268760 h 1268760"/>
              <a:gd name="connsiteX3-7" fmla="*/ 742727 w 1512168"/>
              <a:gd name="connsiteY3-8" fmla="*/ 1257300 h 1268760"/>
              <a:gd name="connsiteX4-9" fmla="*/ 0 w 1512168"/>
              <a:gd name="connsiteY4-10" fmla="*/ 1268760 h 1268760"/>
              <a:gd name="connsiteX5" fmla="*/ 0 w 1512168"/>
              <a:gd name="connsiteY5" fmla="*/ 0 h 1268760"/>
              <a:gd name="connsiteX0-11" fmla="*/ 0 w 1512168"/>
              <a:gd name="connsiteY0-12" fmla="*/ 0 h 1643063"/>
              <a:gd name="connsiteX1-13" fmla="*/ 1512168 w 1512168"/>
              <a:gd name="connsiteY1-14" fmla="*/ 0 h 1643063"/>
              <a:gd name="connsiteX2-15" fmla="*/ 1512168 w 1512168"/>
              <a:gd name="connsiteY2-16" fmla="*/ 1268760 h 1643063"/>
              <a:gd name="connsiteX3-17" fmla="*/ 757014 w 1512168"/>
              <a:gd name="connsiteY3-18" fmla="*/ 1643063 h 1643063"/>
              <a:gd name="connsiteX4-19" fmla="*/ 0 w 1512168"/>
              <a:gd name="connsiteY4-20" fmla="*/ 1268760 h 1643063"/>
              <a:gd name="connsiteX5-21" fmla="*/ 0 w 1512168"/>
              <a:gd name="connsiteY5-22" fmla="*/ 0 h 16430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512168" h="1643063">
                <a:moveTo>
                  <a:pt x="0" y="0"/>
                </a:moveTo>
                <a:lnTo>
                  <a:pt x="1512168" y="0"/>
                </a:lnTo>
                <a:lnTo>
                  <a:pt x="1512168" y="1268760"/>
                </a:lnTo>
                <a:lnTo>
                  <a:pt x="757014" y="1643063"/>
                </a:lnTo>
                <a:lnTo>
                  <a:pt x="0" y="1268760"/>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pic>
        <p:nvPicPr>
          <p:cNvPr id="17" name="图形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79321" y="184571"/>
            <a:ext cx="1175210" cy="827613"/>
          </a:xfrm>
          <a:prstGeom prst="rect">
            <a:avLst/>
          </a:prstGeom>
        </p:spPr>
      </p:pic>
      <p:sp>
        <p:nvSpPr>
          <p:cNvPr id="2" name="标题 1"/>
          <p:cNvSpPr>
            <a:spLocks noGrp="1"/>
          </p:cNvSpPr>
          <p:nvPr>
            <p:ph type="title" hasCustomPrompt="1"/>
          </p:nvPr>
        </p:nvSpPr>
        <p:spPr>
          <a:xfrm>
            <a:off x="828888" y="2537051"/>
            <a:ext cx="5832422" cy="1179092"/>
          </a:xfrm>
        </p:spPr>
        <p:txBody>
          <a:bodyPr anchor="b">
            <a:normAutofit/>
          </a:bodyPr>
          <a:lstStyle>
            <a:lvl1pPr algn="dist">
              <a:defRPr sz="5400">
                <a:solidFill>
                  <a:schemeClr val="bg1"/>
                </a:solidFill>
              </a:defRPr>
            </a:lvl1pPr>
          </a:lstStyle>
          <a:p>
            <a:r>
              <a:rPr lang="zh-CN" altLang="en-US" dirty="0"/>
              <a:t>单击此处编辑标题</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21" name="内容占位符 20"/>
          <p:cNvSpPr>
            <a:spLocks noGrp="1"/>
          </p:cNvSpPr>
          <p:nvPr>
            <p:ph sz="quarter" idx="13"/>
          </p:nvPr>
        </p:nvSpPr>
        <p:spPr>
          <a:xfrm>
            <a:off x="828675" y="3783013"/>
            <a:ext cx="5856288" cy="941387"/>
          </a:xfrm>
        </p:spPr>
        <p:txBody>
          <a:bodyPr/>
          <a:lstStyle>
            <a:lvl1pPr marL="0" indent="0" algn="dist">
              <a:buNone/>
              <a:defRPr>
                <a:solidFill>
                  <a:schemeClr val="bg1"/>
                </a:solidFill>
                <a:latin typeface="+mj-ea"/>
                <a:ea typeface="+mj-ea"/>
              </a:defRPr>
            </a:lvl1pPr>
          </a:lstStyle>
          <a:p>
            <a:pPr lvl="0"/>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0-#ppt_w/2"/>
                                          </p:val>
                                        </p:tav>
                                        <p:tav tm="100000">
                                          <p:val>
                                            <p:strVal val="#ppt_x"/>
                                          </p:val>
                                        </p:tav>
                                      </p:tavLst>
                                    </p:anim>
                                    <p:anim calcmode="lin" valueType="num">
                                      <p:cBhvr additive="base">
                                        <p:cTn id="8" dur="10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750"/>
                                        <p:tgtEl>
                                          <p:spTgt spid="9"/>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750"/>
                                        <p:tgtEl>
                                          <p:spTgt spid="10"/>
                                        </p:tgtEl>
                                      </p:cBhvr>
                                    </p:animEffect>
                                  </p:childTnLst>
                                </p:cTn>
                              </p:par>
                              <p:par>
                                <p:cTn id="15" presetID="10" presetClass="entr" presetSubtype="0" fill="hold" grpId="0" nodeType="withEffect">
                                  <p:stCondLst>
                                    <p:cond delay="50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750"/>
                                        <p:tgtEl>
                                          <p:spTgt spid="11"/>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750"/>
                                        <p:tgtEl>
                                          <p:spTgt spid="7"/>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750"/>
                                        <p:tgtEl>
                                          <p:spTgt spid="8"/>
                                        </p:tgtEl>
                                      </p:cBhvr>
                                    </p:animEffect>
                                  </p:childTnLst>
                                </p:cTn>
                              </p:par>
                              <p:par>
                                <p:cTn id="24" presetID="31" presetClass="entr" presetSubtype="0" fill="hold" grpId="0" nodeType="withEffect">
                                  <p:stCondLst>
                                    <p:cond delay="1000"/>
                                  </p:stCondLst>
                                  <p:childTnLst>
                                    <p:set>
                                      <p:cBhvr>
                                        <p:cTn id="25" dur="1" fill="hold">
                                          <p:stCondLst>
                                            <p:cond delay="0"/>
                                          </p:stCondLst>
                                        </p:cTn>
                                        <p:tgtEl>
                                          <p:spTgt spid="14"/>
                                        </p:tgtEl>
                                        <p:attrNameLst>
                                          <p:attrName>style.visibility</p:attrName>
                                        </p:attrNameLst>
                                      </p:cBhvr>
                                      <p:to>
                                        <p:strVal val="visible"/>
                                      </p:to>
                                    </p:set>
                                    <p:anim calcmode="lin" valueType="num">
                                      <p:cBhvr>
                                        <p:cTn id="26" dur="1000" fill="hold"/>
                                        <p:tgtEl>
                                          <p:spTgt spid="14"/>
                                        </p:tgtEl>
                                        <p:attrNameLst>
                                          <p:attrName>ppt_w</p:attrName>
                                        </p:attrNameLst>
                                      </p:cBhvr>
                                      <p:tavLst>
                                        <p:tav tm="0">
                                          <p:val>
                                            <p:fltVal val="0"/>
                                          </p:val>
                                        </p:tav>
                                        <p:tav tm="100000">
                                          <p:val>
                                            <p:strVal val="#ppt_w"/>
                                          </p:val>
                                        </p:tav>
                                      </p:tavLst>
                                    </p:anim>
                                    <p:anim calcmode="lin" valueType="num">
                                      <p:cBhvr>
                                        <p:cTn id="27" dur="1000" fill="hold"/>
                                        <p:tgtEl>
                                          <p:spTgt spid="14"/>
                                        </p:tgtEl>
                                        <p:attrNameLst>
                                          <p:attrName>ppt_h</p:attrName>
                                        </p:attrNameLst>
                                      </p:cBhvr>
                                      <p:tavLst>
                                        <p:tav tm="0">
                                          <p:val>
                                            <p:fltVal val="0"/>
                                          </p:val>
                                        </p:tav>
                                        <p:tav tm="100000">
                                          <p:val>
                                            <p:strVal val="#ppt_h"/>
                                          </p:val>
                                        </p:tav>
                                      </p:tavLst>
                                    </p:anim>
                                    <p:anim calcmode="lin" valueType="num">
                                      <p:cBhvr>
                                        <p:cTn id="28" dur="1000" fill="hold"/>
                                        <p:tgtEl>
                                          <p:spTgt spid="14"/>
                                        </p:tgtEl>
                                        <p:attrNameLst>
                                          <p:attrName>style.rotation</p:attrName>
                                        </p:attrNameLst>
                                      </p:cBhvr>
                                      <p:tavLst>
                                        <p:tav tm="0">
                                          <p:val>
                                            <p:fltVal val="90"/>
                                          </p:val>
                                        </p:tav>
                                        <p:tav tm="100000">
                                          <p:val>
                                            <p:fltVal val="0"/>
                                          </p:val>
                                        </p:tav>
                                      </p:tavLst>
                                    </p:anim>
                                    <p:animEffect transition="in" filter="fade">
                                      <p:cBhvr>
                                        <p:cTn id="29" dur="1000"/>
                                        <p:tgtEl>
                                          <p:spTgt spid="14"/>
                                        </p:tgtEl>
                                      </p:cBhvr>
                                    </p:animEffect>
                                  </p:childTnLst>
                                </p:cTn>
                              </p:par>
                              <p:par>
                                <p:cTn id="30" presetID="31" presetClass="entr" presetSubtype="0" fill="hold" grpId="0" nodeType="withEffect">
                                  <p:stCondLst>
                                    <p:cond delay="1000"/>
                                  </p:stCondLst>
                                  <p:childTnLst>
                                    <p:set>
                                      <p:cBhvr>
                                        <p:cTn id="31" dur="1" fill="hold">
                                          <p:stCondLst>
                                            <p:cond delay="0"/>
                                          </p:stCondLst>
                                        </p:cTn>
                                        <p:tgtEl>
                                          <p:spTgt spid="13"/>
                                        </p:tgtEl>
                                        <p:attrNameLst>
                                          <p:attrName>style.visibility</p:attrName>
                                        </p:attrNameLst>
                                      </p:cBhvr>
                                      <p:to>
                                        <p:strVal val="visible"/>
                                      </p:to>
                                    </p:set>
                                    <p:anim calcmode="lin" valueType="num">
                                      <p:cBhvr>
                                        <p:cTn id="32" dur="1000" fill="hold"/>
                                        <p:tgtEl>
                                          <p:spTgt spid="13"/>
                                        </p:tgtEl>
                                        <p:attrNameLst>
                                          <p:attrName>ppt_w</p:attrName>
                                        </p:attrNameLst>
                                      </p:cBhvr>
                                      <p:tavLst>
                                        <p:tav tm="0">
                                          <p:val>
                                            <p:fltVal val="0"/>
                                          </p:val>
                                        </p:tav>
                                        <p:tav tm="100000">
                                          <p:val>
                                            <p:strVal val="#ppt_w"/>
                                          </p:val>
                                        </p:tav>
                                      </p:tavLst>
                                    </p:anim>
                                    <p:anim calcmode="lin" valueType="num">
                                      <p:cBhvr>
                                        <p:cTn id="33" dur="1000" fill="hold"/>
                                        <p:tgtEl>
                                          <p:spTgt spid="13"/>
                                        </p:tgtEl>
                                        <p:attrNameLst>
                                          <p:attrName>ppt_h</p:attrName>
                                        </p:attrNameLst>
                                      </p:cBhvr>
                                      <p:tavLst>
                                        <p:tav tm="0">
                                          <p:val>
                                            <p:fltVal val="0"/>
                                          </p:val>
                                        </p:tav>
                                        <p:tav tm="100000">
                                          <p:val>
                                            <p:strVal val="#ppt_h"/>
                                          </p:val>
                                        </p:tav>
                                      </p:tavLst>
                                    </p:anim>
                                    <p:anim calcmode="lin" valueType="num">
                                      <p:cBhvr>
                                        <p:cTn id="34" dur="1000" fill="hold"/>
                                        <p:tgtEl>
                                          <p:spTgt spid="13"/>
                                        </p:tgtEl>
                                        <p:attrNameLst>
                                          <p:attrName>style.rotation</p:attrName>
                                        </p:attrNameLst>
                                      </p:cBhvr>
                                      <p:tavLst>
                                        <p:tav tm="0">
                                          <p:val>
                                            <p:fltVal val="90"/>
                                          </p:val>
                                        </p:tav>
                                        <p:tav tm="100000">
                                          <p:val>
                                            <p:fltVal val="0"/>
                                          </p:val>
                                        </p:tav>
                                      </p:tavLst>
                                    </p:anim>
                                    <p:animEffect transition="in" filter="fade">
                                      <p:cBhvr>
                                        <p:cTn id="35" dur="1000"/>
                                        <p:tgtEl>
                                          <p:spTgt spid="13"/>
                                        </p:tgtEl>
                                      </p:cBhvr>
                                    </p:animEffect>
                                  </p:childTnLst>
                                </p:cTn>
                              </p:par>
                              <p:par>
                                <p:cTn id="36" presetID="31" presetClass="entr" presetSubtype="0" fill="hold" grpId="0" nodeType="withEffect">
                                  <p:stCondLst>
                                    <p:cond delay="1000"/>
                                  </p:stCondLst>
                                  <p:childTnLst>
                                    <p:set>
                                      <p:cBhvr>
                                        <p:cTn id="37" dur="1" fill="hold">
                                          <p:stCondLst>
                                            <p:cond delay="0"/>
                                          </p:stCondLst>
                                        </p:cTn>
                                        <p:tgtEl>
                                          <p:spTgt spid="15"/>
                                        </p:tgtEl>
                                        <p:attrNameLst>
                                          <p:attrName>style.visibility</p:attrName>
                                        </p:attrNameLst>
                                      </p:cBhvr>
                                      <p:to>
                                        <p:strVal val="visible"/>
                                      </p:to>
                                    </p:set>
                                    <p:anim calcmode="lin" valueType="num">
                                      <p:cBhvr>
                                        <p:cTn id="38" dur="1000" fill="hold"/>
                                        <p:tgtEl>
                                          <p:spTgt spid="15"/>
                                        </p:tgtEl>
                                        <p:attrNameLst>
                                          <p:attrName>ppt_w</p:attrName>
                                        </p:attrNameLst>
                                      </p:cBhvr>
                                      <p:tavLst>
                                        <p:tav tm="0">
                                          <p:val>
                                            <p:fltVal val="0"/>
                                          </p:val>
                                        </p:tav>
                                        <p:tav tm="100000">
                                          <p:val>
                                            <p:strVal val="#ppt_w"/>
                                          </p:val>
                                        </p:tav>
                                      </p:tavLst>
                                    </p:anim>
                                    <p:anim calcmode="lin" valueType="num">
                                      <p:cBhvr>
                                        <p:cTn id="39" dur="1000" fill="hold"/>
                                        <p:tgtEl>
                                          <p:spTgt spid="15"/>
                                        </p:tgtEl>
                                        <p:attrNameLst>
                                          <p:attrName>ppt_h</p:attrName>
                                        </p:attrNameLst>
                                      </p:cBhvr>
                                      <p:tavLst>
                                        <p:tav tm="0">
                                          <p:val>
                                            <p:fltVal val="0"/>
                                          </p:val>
                                        </p:tav>
                                        <p:tav tm="100000">
                                          <p:val>
                                            <p:strVal val="#ppt_h"/>
                                          </p:val>
                                        </p:tav>
                                      </p:tavLst>
                                    </p:anim>
                                    <p:anim calcmode="lin" valueType="num">
                                      <p:cBhvr>
                                        <p:cTn id="40" dur="1000" fill="hold"/>
                                        <p:tgtEl>
                                          <p:spTgt spid="15"/>
                                        </p:tgtEl>
                                        <p:attrNameLst>
                                          <p:attrName>style.rotation</p:attrName>
                                        </p:attrNameLst>
                                      </p:cBhvr>
                                      <p:tavLst>
                                        <p:tav tm="0">
                                          <p:val>
                                            <p:fltVal val="90"/>
                                          </p:val>
                                        </p:tav>
                                        <p:tav tm="100000">
                                          <p:val>
                                            <p:fltVal val="0"/>
                                          </p:val>
                                        </p:tav>
                                      </p:tavLst>
                                    </p:anim>
                                    <p:animEffect transition="in" filter="fade">
                                      <p:cBhvr>
                                        <p:cTn id="41" dur="1000"/>
                                        <p:tgtEl>
                                          <p:spTgt spid="15"/>
                                        </p:tgtEl>
                                      </p:cBhvr>
                                    </p:animEffect>
                                  </p:childTnLst>
                                </p:cTn>
                              </p:par>
                            </p:childTnLst>
                          </p:cTn>
                        </p:par>
                        <p:par>
                          <p:cTn id="42" fill="hold">
                            <p:stCondLst>
                              <p:cond delay="1000"/>
                            </p:stCondLst>
                            <p:childTnLst>
                              <p:par>
                                <p:cTn id="43" presetID="47"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1000"/>
                                        <p:tgtEl>
                                          <p:spTgt spid="16"/>
                                        </p:tgtEl>
                                      </p:cBhvr>
                                    </p:animEffect>
                                    <p:anim calcmode="lin" valueType="num">
                                      <p:cBhvr>
                                        <p:cTn id="46" dur="1000" fill="hold"/>
                                        <p:tgtEl>
                                          <p:spTgt spid="16"/>
                                        </p:tgtEl>
                                        <p:attrNameLst>
                                          <p:attrName>ppt_x</p:attrName>
                                        </p:attrNameLst>
                                      </p:cBhvr>
                                      <p:tavLst>
                                        <p:tav tm="0">
                                          <p:val>
                                            <p:strVal val="#ppt_x"/>
                                          </p:val>
                                        </p:tav>
                                        <p:tav tm="100000">
                                          <p:val>
                                            <p:strVal val="#ppt_x"/>
                                          </p:val>
                                        </p:tav>
                                      </p:tavLst>
                                    </p:anim>
                                    <p:anim calcmode="lin" valueType="num">
                                      <p:cBhvr>
                                        <p:cTn id="4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p:nvGrpSpPr>
        <p:grpSpPr>
          <a:xfrm>
            <a:off x="-24680" y="184426"/>
            <a:ext cx="12219187" cy="506163"/>
            <a:chOff x="-24680" y="184426"/>
            <a:chExt cx="12219187" cy="506163"/>
          </a:xfrm>
        </p:grpSpPr>
        <p:sp>
          <p:nvSpPr>
            <p:cNvPr id="6" name="矩形 17"/>
            <p:cNvSpPr/>
            <p:nvPr/>
          </p:nvSpPr>
          <p:spPr>
            <a:xfrm>
              <a:off x="1991545" y="184426"/>
              <a:ext cx="10202962" cy="506163"/>
            </a:xfrm>
            <a:custGeom>
              <a:avLst/>
              <a:gdLst>
                <a:gd name="connsiteX0" fmla="*/ 0 w 9742140"/>
                <a:gd name="connsiteY0" fmla="*/ 0 h 504056"/>
                <a:gd name="connsiteX1" fmla="*/ 9742140 w 9742140"/>
                <a:gd name="connsiteY1" fmla="*/ 0 h 504056"/>
                <a:gd name="connsiteX2" fmla="*/ 9742140 w 9742140"/>
                <a:gd name="connsiteY2" fmla="*/ 504056 h 504056"/>
                <a:gd name="connsiteX3" fmla="*/ 0 w 9742140"/>
                <a:gd name="connsiteY3" fmla="*/ 504056 h 504056"/>
                <a:gd name="connsiteX4" fmla="*/ 0 w 9742140"/>
                <a:gd name="connsiteY4" fmla="*/ 0 h 504056"/>
                <a:gd name="connsiteX0-1" fmla="*/ 248615 w 9990755"/>
                <a:gd name="connsiteY0-2" fmla="*/ 0 h 504056"/>
                <a:gd name="connsiteX1-3" fmla="*/ 9990755 w 9990755"/>
                <a:gd name="connsiteY1-4" fmla="*/ 0 h 504056"/>
                <a:gd name="connsiteX2-5" fmla="*/ 9990755 w 9990755"/>
                <a:gd name="connsiteY2-6" fmla="*/ 504056 h 504056"/>
                <a:gd name="connsiteX3-7" fmla="*/ 0 w 9990755"/>
                <a:gd name="connsiteY3-8" fmla="*/ 504056 h 504056"/>
                <a:gd name="connsiteX4-9" fmla="*/ 248615 w 9990755"/>
                <a:gd name="connsiteY4-10" fmla="*/ 0 h 504056"/>
                <a:gd name="connsiteX0-11" fmla="*/ 278112 w 9990755"/>
                <a:gd name="connsiteY0-12" fmla="*/ 0 h 504056"/>
                <a:gd name="connsiteX1-13" fmla="*/ 9990755 w 9990755"/>
                <a:gd name="connsiteY1-14" fmla="*/ 0 h 504056"/>
                <a:gd name="connsiteX2-15" fmla="*/ 9990755 w 9990755"/>
                <a:gd name="connsiteY2-16" fmla="*/ 504056 h 504056"/>
                <a:gd name="connsiteX3-17" fmla="*/ 0 w 9990755"/>
                <a:gd name="connsiteY3-18" fmla="*/ 504056 h 504056"/>
                <a:gd name="connsiteX4-19" fmla="*/ 278112 w 9990755"/>
                <a:gd name="connsiteY4-20" fmla="*/ 0 h 504056"/>
                <a:gd name="connsiteX0-21" fmla="*/ 294967 w 9990755"/>
                <a:gd name="connsiteY0-22" fmla="*/ 0 h 508270"/>
                <a:gd name="connsiteX1-23" fmla="*/ 9990755 w 9990755"/>
                <a:gd name="connsiteY1-24" fmla="*/ 4214 h 508270"/>
                <a:gd name="connsiteX2-25" fmla="*/ 9990755 w 9990755"/>
                <a:gd name="connsiteY2-26" fmla="*/ 508270 h 508270"/>
                <a:gd name="connsiteX3-27" fmla="*/ 0 w 9990755"/>
                <a:gd name="connsiteY3-28" fmla="*/ 508270 h 508270"/>
                <a:gd name="connsiteX4-29" fmla="*/ 294967 w 9990755"/>
                <a:gd name="connsiteY4-30" fmla="*/ 0 h 508270"/>
                <a:gd name="connsiteX0-31" fmla="*/ 294967 w 10013135"/>
                <a:gd name="connsiteY0-32" fmla="*/ 0 h 508270"/>
                <a:gd name="connsiteX1-33" fmla="*/ 10013135 w 10013135"/>
                <a:gd name="connsiteY1-34" fmla="*/ 1017 h 508270"/>
                <a:gd name="connsiteX2-35" fmla="*/ 9990755 w 10013135"/>
                <a:gd name="connsiteY2-36" fmla="*/ 508270 h 508270"/>
                <a:gd name="connsiteX3-37" fmla="*/ 0 w 10013135"/>
                <a:gd name="connsiteY3-38" fmla="*/ 508270 h 508270"/>
                <a:gd name="connsiteX4-39" fmla="*/ 294967 w 10013135"/>
                <a:gd name="connsiteY4-40" fmla="*/ 0 h 508270"/>
                <a:gd name="connsiteX0-41" fmla="*/ 294967 w 10019529"/>
                <a:gd name="connsiteY0-42" fmla="*/ 0 h 508270"/>
                <a:gd name="connsiteX1-43" fmla="*/ 10013135 w 10019529"/>
                <a:gd name="connsiteY1-44" fmla="*/ 1017 h 508270"/>
                <a:gd name="connsiteX2-45" fmla="*/ 10019529 w 10019529"/>
                <a:gd name="connsiteY2-46" fmla="*/ 508270 h 508270"/>
                <a:gd name="connsiteX3-47" fmla="*/ 0 w 10019529"/>
                <a:gd name="connsiteY3-48" fmla="*/ 508270 h 508270"/>
                <a:gd name="connsiteX4-49" fmla="*/ 294967 w 10019529"/>
                <a:gd name="connsiteY4-50" fmla="*/ 0 h 508270"/>
                <a:gd name="connsiteX0-51" fmla="*/ 294967 w 10019529"/>
                <a:gd name="connsiteY0-52" fmla="*/ 0 h 508270"/>
                <a:gd name="connsiteX1-53" fmla="*/ 10016332 w 10019529"/>
                <a:gd name="connsiteY1-54" fmla="*/ 1017 h 508270"/>
                <a:gd name="connsiteX2-55" fmla="*/ 10019529 w 10019529"/>
                <a:gd name="connsiteY2-56" fmla="*/ 508270 h 508270"/>
                <a:gd name="connsiteX3-57" fmla="*/ 0 w 10019529"/>
                <a:gd name="connsiteY3-58" fmla="*/ 508270 h 508270"/>
                <a:gd name="connsiteX4-59" fmla="*/ 294967 w 10019529"/>
                <a:gd name="connsiteY4-60" fmla="*/ 0 h 50827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19529" h="508270">
                  <a:moveTo>
                    <a:pt x="294967" y="0"/>
                  </a:moveTo>
                  <a:lnTo>
                    <a:pt x="10016332" y="1017"/>
                  </a:lnTo>
                  <a:cubicBezTo>
                    <a:pt x="10018463" y="170101"/>
                    <a:pt x="10017398" y="339186"/>
                    <a:pt x="10019529" y="508270"/>
                  </a:cubicBezTo>
                  <a:lnTo>
                    <a:pt x="0" y="508270"/>
                  </a:lnTo>
                  <a:lnTo>
                    <a:pt x="294967"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1"/>
            <p:cNvSpPr/>
            <p:nvPr/>
          </p:nvSpPr>
          <p:spPr>
            <a:xfrm>
              <a:off x="-24680" y="186533"/>
              <a:ext cx="2422798" cy="504056"/>
            </a:xfrm>
            <a:custGeom>
              <a:avLst/>
              <a:gdLst>
                <a:gd name="connsiteX0" fmla="*/ 0 w 2422798"/>
                <a:gd name="connsiteY0" fmla="*/ 0 h 504056"/>
                <a:gd name="connsiteX1" fmla="*/ 2422798 w 2422798"/>
                <a:gd name="connsiteY1" fmla="*/ 0 h 504056"/>
                <a:gd name="connsiteX2" fmla="*/ 2422798 w 2422798"/>
                <a:gd name="connsiteY2" fmla="*/ 504056 h 504056"/>
                <a:gd name="connsiteX3" fmla="*/ 0 w 2422798"/>
                <a:gd name="connsiteY3" fmla="*/ 504056 h 504056"/>
                <a:gd name="connsiteX4" fmla="*/ 0 w 2422798"/>
                <a:gd name="connsiteY4" fmla="*/ 0 h 504056"/>
                <a:gd name="connsiteX0-1" fmla="*/ 0 w 2422798"/>
                <a:gd name="connsiteY0-2" fmla="*/ 0 h 504056"/>
                <a:gd name="connsiteX1-3" fmla="*/ 2422798 w 2422798"/>
                <a:gd name="connsiteY1-4" fmla="*/ 0 h 504056"/>
                <a:gd name="connsiteX2-5" fmla="*/ 2123617 w 2422798"/>
                <a:gd name="connsiteY2-6" fmla="*/ 499842 h 504056"/>
                <a:gd name="connsiteX3-7" fmla="*/ 0 w 2422798"/>
                <a:gd name="connsiteY3-8" fmla="*/ 504056 h 504056"/>
                <a:gd name="connsiteX4-9" fmla="*/ 0 w 2422798"/>
                <a:gd name="connsiteY4-10" fmla="*/ 0 h 50405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22798" h="504056">
                  <a:moveTo>
                    <a:pt x="0" y="0"/>
                  </a:moveTo>
                  <a:lnTo>
                    <a:pt x="2422798" y="0"/>
                  </a:lnTo>
                  <a:lnTo>
                    <a:pt x="2123617" y="499842"/>
                  </a:lnTo>
                  <a:lnTo>
                    <a:pt x="0" y="504056"/>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7" y="457200"/>
            <a:ext cx="4165200" cy="1600200"/>
          </a:xfrm>
        </p:spPr>
        <p:txBody>
          <a:bodyPr anchor="t" anchorCtr="0">
            <a:normAutofit/>
          </a:bodyPr>
          <a:lstStyle>
            <a:lvl1pPr>
              <a:defRPr sz="3600">
                <a:solidFill>
                  <a:schemeClr val="tx2"/>
                </a:solidFill>
              </a:defRPr>
            </a:lvl1pPr>
          </a:lstStyle>
          <a:p>
            <a:r>
              <a:rPr lang="zh-CN" altLang="en-US" dirty="0"/>
              <a:t>单击此处编辑母版标题样式</a:t>
            </a:r>
            <a:endParaRPr lang="zh-CN" altLang="en-US" dirty="0"/>
          </a:p>
        </p:txBody>
      </p:sp>
      <p:sp>
        <p:nvSpPr>
          <p:cNvPr id="3" name="图片占位符 2"/>
          <p:cNvSpPr>
            <a:spLocks noGrp="1" noChangeAspect="1"/>
          </p:cNvSpPr>
          <p:nvPr>
            <p:ph type="pic" idx="1"/>
          </p:nvPr>
        </p:nvSpPr>
        <p:spPr>
          <a:xfrm>
            <a:off x="5184000" y="457200"/>
            <a:ext cx="6170400" cy="540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839787" y="2057400"/>
            <a:ext cx="4165200" cy="38115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4 bullet layout ">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406401" y="381000"/>
            <a:ext cx="9501716" cy="412394"/>
          </a:xfrm>
        </p:spPr>
        <p:txBody>
          <a:bodyPr/>
          <a:lstStyle>
            <a:lvl1pPr>
              <a:defRPr sz="3200">
                <a:latin typeface="+mj-lt"/>
              </a:defRPr>
            </a:lvl1pPr>
          </a:lstStyle>
          <a:p>
            <a:r>
              <a:rPr lang="en-US" dirty="0"/>
              <a:t>Click to edit master title style</a:t>
            </a:r>
            <a:endParaRPr lang="en-US" dirty="0"/>
          </a:p>
        </p:txBody>
      </p:sp>
      <p:sp>
        <p:nvSpPr>
          <p:cNvPr id="5" name="Text Placeholder 3"/>
          <p:cNvSpPr>
            <a:spLocks noGrp="1"/>
          </p:cNvSpPr>
          <p:nvPr>
            <p:ph type="body" sz="quarter" idx="11"/>
          </p:nvPr>
        </p:nvSpPr>
        <p:spPr>
          <a:xfrm>
            <a:off x="812800" y="1752600"/>
            <a:ext cx="6908800" cy="3124200"/>
          </a:xfrm>
        </p:spPr>
        <p:txBody>
          <a:bodyPr/>
          <a:lstStyle>
            <a:lvl1pPr marL="228600" indent="-228600">
              <a:defRPr sz="2400"/>
            </a:lvl1pPr>
            <a:lvl2pPr marL="457200" indent="-228600">
              <a:buFont typeface="Calibri" panose="020F0502020204030204" pitchFamily="34" charset="0"/>
              <a:buChar char="−"/>
              <a:defRPr sz="2000"/>
            </a:lvl2pPr>
            <a:lvl3pPr marL="685800" indent="-228600">
              <a:buFont typeface="Arial" panose="020B0604020202020204" pitchFamily="34" charset="0"/>
              <a:buChar char="•"/>
              <a:defRPr sz="2000"/>
            </a:lvl3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tags" Target="../tags/tag3.xml"/><Relationship Id="rId15" Type="http://schemas.openxmlformats.org/officeDocument/2006/relationships/tags" Target="../tags/tag2.xml"/><Relationship Id="rId14" Type="http://schemas.openxmlformats.org/officeDocument/2006/relationships/tags" Target="../tags/tag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p:custDataLst>
              <p:tags r:id="rId1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xml"/><Relationship Id="rId2" Type="http://schemas.openxmlformats.org/officeDocument/2006/relationships/image" Target="../media/image5.png"/><Relationship Id="rId1" Type="http://schemas.openxmlformats.org/officeDocument/2006/relationships/hyperlink" Target="mailto:zhaoxz@sustech.edu.c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pPr algn="ctr"/>
            <a:r>
              <a:rPr lang="zh-CN" altLang="en-US" dirty="0" smtClean="0"/>
              <a:t>飞行模拟实验</a:t>
            </a:r>
            <a:endParaRPr lang="zh-CN" altLang="en-US" dirty="0"/>
          </a:p>
        </p:txBody>
      </p:sp>
      <p:sp>
        <p:nvSpPr>
          <p:cNvPr id="3" name="副标题 2"/>
          <p:cNvSpPr>
            <a:spLocks noGrp="1"/>
          </p:cNvSpPr>
          <p:nvPr>
            <p:ph type="subTitle" idx="1"/>
          </p:nvPr>
        </p:nvSpPr>
        <p:spPr/>
        <p:txBody>
          <a:bodyPr>
            <a:noAutofit/>
          </a:bodyPr>
          <a:lstStyle/>
          <a:p>
            <a:r>
              <a:rPr lang="en-US" altLang="zh-CN" sz="1800" dirty="0" smtClean="0"/>
              <a:t>2026 </a:t>
            </a:r>
            <a:r>
              <a:rPr lang="zh-CN" altLang="en-US" sz="1800" dirty="0" smtClean="0"/>
              <a:t>春季</a:t>
            </a:r>
            <a:r>
              <a:rPr lang="zh-CN" altLang="en-US" sz="1800" dirty="0"/>
              <a:t>学期</a:t>
            </a:r>
            <a:endParaRPr lang="zh-CN" altLang="en-US" sz="1800" dirty="0"/>
          </a:p>
          <a:p>
            <a:r>
              <a:rPr lang="zh-CN" altLang="en-US" sz="1800" dirty="0"/>
              <a:t>指导教师</a:t>
            </a:r>
            <a:r>
              <a:rPr lang="zh-CN" altLang="en-US" sz="1800" dirty="0" smtClean="0"/>
              <a:t>：赵</a:t>
            </a:r>
            <a:r>
              <a:rPr lang="zh-CN" altLang="en-US" sz="1800" dirty="0"/>
              <a:t>晓</a:t>
            </a:r>
            <a:r>
              <a:rPr lang="zh-CN" altLang="en-US" sz="1800" dirty="0" smtClean="0"/>
              <a:t>争</a:t>
            </a:r>
            <a:endParaRPr lang="en-US" altLang="zh-CN" sz="1800" dirty="0" smtClean="0"/>
          </a:p>
          <a:p>
            <a:r>
              <a:rPr lang="zh-CN" altLang="en-US" sz="1800" dirty="0" smtClean="0"/>
              <a:t>邮箱：</a:t>
            </a:r>
            <a:r>
              <a:rPr lang="en-US" altLang="zh-CN" sz="1800" dirty="0" smtClean="0"/>
              <a:t>zhaoxz@sustech.edu.cn</a:t>
            </a:r>
            <a:endParaRPr lang="en-US" altLang="zh-CN" sz="1800" dirty="0" smtClean="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联系方式</a:t>
            </a:r>
            <a:endParaRPr lang="zh-CN" altLang="en-US" dirty="0"/>
          </a:p>
        </p:txBody>
      </p:sp>
      <p:sp>
        <p:nvSpPr>
          <p:cNvPr id="3" name="内容占位符 2"/>
          <p:cNvSpPr>
            <a:spLocks noGrp="1"/>
          </p:cNvSpPr>
          <p:nvPr>
            <p:ph idx="1"/>
          </p:nvPr>
        </p:nvSpPr>
        <p:spPr>
          <a:xfrm>
            <a:off x="838200" y="1825625"/>
            <a:ext cx="6626629" cy="4351338"/>
          </a:xfrm>
        </p:spPr>
        <p:txBody>
          <a:bodyPr>
            <a:normAutofit/>
          </a:bodyPr>
          <a:lstStyle/>
          <a:p>
            <a:pPr>
              <a:lnSpc>
                <a:spcPct val="150000"/>
              </a:lnSpc>
            </a:pPr>
            <a:r>
              <a:rPr lang="zh-CN" altLang="en-US" dirty="0" smtClean="0"/>
              <a:t>指导教师：赵晓争</a:t>
            </a:r>
            <a:endParaRPr lang="en-US" altLang="zh-CN" dirty="0" smtClean="0"/>
          </a:p>
          <a:p>
            <a:pPr lvl="1">
              <a:lnSpc>
                <a:spcPct val="150000"/>
              </a:lnSpc>
              <a:buFontTx/>
              <a:buChar char="-"/>
            </a:pPr>
            <a:r>
              <a:rPr lang="zh-CN" altLang="en-US" dirty="0"/>
              <a:t>邮箱</a:t>
            </a:r>
            <a:r>
              <a:rPr lang="zh-CN" altLang="en-US" dirty="0" smtClean="0"/>
              <a:t>：</a:t>
            </a:r>
            <a:r>
              <a:rPr lang="en-US" altLang="zh-CN" dirty="0" smtClean="0">
                <a:hlinkClick r:id="rId1"/>
              </a:rPr>
              <a:t>zhaoxz@sustech.edu.cn</a:t>
            </a:r>
            <a:endParaRPr lang="en-US" altLang="zh-CN" dirty="0" smtClean="0"/>
          </a:p>
          <a:p>
            <a:pPr lvl="1">
              <a:lnSpc>
                <a:spcPct val="150000"/>
              </a:lnSpc>
              <a:buFontTx/>
              <a:buChar char="-"/>
            </a:pPr>
            <a:r>
              <a:rPr lang="zh-CN" altLang="en-US" dirty="0" smtClean="0"/>
              <a:t>电话：</a:t>
            </a:r>
            <a:r>
              <a:rPr lang="en-US" altLang="zh-CN" dirty="0" smtClean="0"/>
              <a:t>0755-88018284</a:t>
            </a:r>
            <a:r>
              <a:rPr lang="zh-CN" altLang="en-US" dirty="0" smtClean="0"/>
              <a:t>，</a:t>
            </a:r>
            <a:endParaRPr lang="en-US" altLang="zh-CN" dirty="0"/>
          </a:p>
          <a:p>
            <a:pPr marL="457200" lvl="1" indent="0">
              <a:lnSpc>
                <a:spcPct val="150000"/>
              </a:lnSpc>
              <a:buNone/>
            </a:pPr>
            <a:r>
              <a:rPr lang="en-US" altLang="zh-CN" dirty="0"/>
              <a:t>              </a:t>
            </a:r>
            <a:r>
              <a:rPr lang="en-US" altLang="zh-CN" dirty="0" smtClean="0"/>
              <a:t>18024574204</a:t>
            </a:r>
            <a:endParaRPr lang="en-US" altLang="zh-CN" dirty="0" smtClean="0"/>
          </a:p>
          <a:p>
            <a:pPr lvl="1">
              <a:lnSpc>
                <a:spcPct val="150000"/>
              </a:lnSpc>
              <a:buFontTx/>
              <a:buChar char="-"/>
            </a:pPr>
            <a:r>
              <a:rPr lang="zh-CN" altLang="en-US" dirty="0"/>
              <a:t>办公室</a:t>
            </a:r>
            <a:r>
              <a:rPr lang="zh-CN" altLang="en-US" dirty="0" smtClean="0"/>
              <a:t>：工学院北楼</a:t>
            </a:r>
            <a:r>
              <a:rPr lang="en-US" altLang="zh-CN" dirty="0" smtClean="0"/>
              <a:t>728</a:t>
            </a:r>
            <a:endParaRPr lang="en-US" altLang="zh-CN" dirty="0" smtClean="0"/>
          </a:p>
          <a:p>
            <a:pPr lvl="1">
              <a:lnSpc>
                <a:spcPct val="150000"/>
              </a:lnSpc>
              <a:buFontTx/>
              <a:buChar char="-"/>
            </a:pPr>
            <a:r>
              <a:rPr lang="zh-CN" altLang="en-US" dirty="0"/>
              <a:t>上课地点：工学院北楼</a:t>
            </a:r>
            <a:r>
              <a:rPr lang="en-US" altLang="zh-CN" dirty="0" smtClean="0"/>
              <a:t>108</a:t>
            </a:r>
            <a:endParaRPr lang="en-US" altLang="zh-CN" dirty="0" smtClean="0"/>
          </a:p>
          <a:p>
            <a:pPr lvl="1">
              <a:lnSpc>
                <a:spcPct val="150000"/>
              </a:lnSpc>
              <a:buFontTx/>
              <a:buChar char="-"/>
            </a:pPr>
            <a:r>
              <a:rPr lang="en-US" altLang="zh-CN" dirty="0" smtClean="0"/>
              <a:t>QQ</a:t>
            </a:r>
            <a:r>
              <a:rPr lang="zh-CN" altLang="en-US" dirty="0"/>
              <a:t>群：飞行</a:t>
            </a:r>
            <a:r>
              <a:rPr lang="zh-CN" altLang="en-US" dirty="0" smtClean="0"/>
              <a:t>模拟实验</a:t>
            </a:r>
            <a:r>
              <a:rPr lang="en-US" altLang="zh-CN" dirty="0" smtClean="0"/>
              <a:t>-202</a:t>
            </a:r>
            <a:r>
              <a:rPr lang="en-US" dirty="0" smtClean="0"/>
              <a:t>6</a:t>
            </a:r>
            <a:r>
              <a:rPr lang="zh-CN" altLang="en-US" dirty="0" smtClean="0"/>
              <a:t>春</a:t>
            </a:r>
            <a:r>
              <a:rPr lang="en-US" altLang="zh-CN" dirty="0" smtClean="0"/>
              <a:t> </a:t>
            </a:r>
            <a:r>
              <a:rPr lang="zh-CN" altLang="en-US" dirty="0" smtClean="0"/>
              <a:t>（</a:t>
            </a:r>
            <a:r>
              <a:rPr lang="en-US" altLang="zh-CN" dirty="0"/>
              <a:t> 1021581956 </a:t>
            </a:r>
            <a:r>
              <a:rPr lang="zh-CN" altLang="en-US" dirty="0" smtClean="0"/>
              <a:t>）</a:t>
            </a:r>
            <a:endParaRPr lang="zh-CN" altLang="en-US" dirty="0"/>
          </a:p>
          <a:p>
            <a:pPr marL="457200" indent="-457200">
              <a:buFont typeface="+mj-lt"/>
              <a:buAutoNum type="arabicPeriod"/>
            </a:pPr>
            <a:endParaRPr lang="zh-CN" altLang="en-US" dirty="0"/>
          </a:p>
        </p:txBody>
      </p:sp>
      <p:sp>
        <p:nvSpPr>
          <p:cNvPr id="5" name="页脚占位符 4"/>
          <p:cNvSpPr>
            <a:spLocks noGrp="1"/>
          </p:cNvSpPr>
          <p:nvPr>
            <p:ph type="ftr" sz="quarter" idx="11"/>
          </p:nvPr>
        </p:nvSpPr>
        <p:spPr/>
        <p:txBody>
          <a:bodyPr/>
          <a:lstStyle/>
          <a:p>
            <a:r>
              <a:rPr lang="zh-CN" altLang="en-US" dirty="0"/>
              <a:t>MA</a:t>
            </a:r>
            <a:r>
              <a:rPr lang="en-US" altLang="zh-CN" dirty="0" smtClean="0"/>
              <a:t>E102</a:t>
            </a:r>
            <a:endParaRPr lang="en-US" altLang="zh-CN"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 name="图片 5"/>
          <p:cNvPicPr>
            <a:picLocks noChangeAspect="1"/>
          </p:cNvPicPr>
          <p:nvPr/>
        </p:nvPicPr>
        <p:blipFill>
          <a:blip r:embed="rId2"/>
          <a:stretch>
            <a:fillRect/>
          </a:stretch>
        </p:blipFill>
        <p:spPr>
          <a:xfrm>
            <a:off x="7774305" y="1884045"/>
            <a:ext cx="3418205" cy="3418205"/>
          </a:xfrm>
          <a:prstGeom prst="rect">
            <a:avLst/>
          </a:prstGeom>
        </p:spPr>
      </p:pic>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0"/>
              </a:spcBef>
            </a:pPr>
            <a:r>
              <a:rPr lang="zh-CN" altLang="en-US" dirty="0" smtClean="0"/>
              <a:t>初步认知飞行器结构，理解其背后的力学原理。</a:t>
            </a:r>
            <a:endParaRPr lang="zh-CN" altLang="en-US" dirty="0" smtClean="0"/>
          </a:p>
          <a:p>
            <a:pPr>
              <a:lnSpc>
                <a:spcPct val="150000"/>
              </a:lnSpc>
              <a:spcBef>
                <a:spcPts val="0"/>
              </a:spcBef>
            </a:pPr>
            <a:r>
              <a:rPr lang="zh-CN" altLang="en-US" dirty="0" smtClean="0"/>
              <a:t>掌握飞行模拟器基础操作，熟悉飞行仪表识读方法，了解小型航空器驾驶基础技能。</a:t>
            </a:r>
            <a:endParaRPr lang="zh-CN" altLang="en-US" dirty="0" smtClean="0"/>
          </a:p>
          <a:p>
            <a:pPr>
              <a:lnSpc>
                <a:spcPct val="150000"/>
              </a:lnSpc>
              <a:spcBef>
                <a:spcPts val="0"/>
              </a:spcBef>
            </a:pPr>
            <a:r>
              <a:rPr lang="zh-CN" altLang="en-US" dirty="0" smtClean="0"/>
              <a:t>通过飞行模拟的实操体验与学习，让学生感受航空领域的独特魅力，激发对航空事业的探索兴趣与学习热情。</a:t>
            </a:r>
            <a:endParaRPr lang="zh-CN" altLang="en-US" dirty="0" smtClean="0"/>
          </a:p>
          <a:p>
            <a:pPr>
              <a:lnSpc>
                <a:spcPct val="150000"/>
              </a:lnSpc>
              <a:spcBef>
                <a:spcPts val="0"/>
              </a:spcBef>
            </a:pPr>
            <a:endParaRPr lang="en-US" altLang="zh-CN" dirty="0" smtClean="0"/>
          </a:p>
          <a:p>
            <a:pPr>
              <a:lnSpc>
                <a:spcPct val="150000"/>
              </a:lnSpc>
              <a:spcBef>
                <a:spcPts val="0"/>
              </a:spcBef>
            </a:pPr>
            <a:endParaRPr lang="zh-CN" altLang="en-US" dirty="0"/>
          </a:p>
        </p:txBody>
      </p:sp>
      <p:sp>
        <p:nvSpPr>
          <p:cNvPr id="4" name="页脚占位符 3"/>
          <p:cNvSpPr>
            <a:spLocks noGrp="1"/>
          </p:cNvSpPr>
          <p:nvPr>
            <p:ph type="ftr" sz="quarter" idx="11"/>
          </p:nvPr>
        </p:nvSpPr>
        <p:spPr/>
        <p:txBody>
          <a:bodyPr/>
          <a:lstStyle/>
          <a:p>
            <a:r>
              <a:rPr lang="zh-CN" altLang="en-US" dirty="0" smtClean="0"/>
              <a:t>MA</a:t>
            </a:r>
            <a:r>
              <a:rPr lang="en-US" altLang="zh-CN" dirty="0" smtClean="0"/>
              <a:t>E102</a:t>
            </a:r>
            <a:endParaRPr lang="en-US" altLang="zh-CN"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教学内容</a:t>
            </a:r>
            <a:endParaRPr lang="zh-CN" altLang="en-US" dirty="0"/>
          </a:p>
        </p:txBody>
      </p:sp>
      <p:sp>
        <p:nvSpPr>
          <p:cNvPr id="3" name="内容占位符 2"/>
          <p:cNvSpPr>
            <a:spLocks noGrp="1"/>
          </p:cNvSpPr>
          <p:nvPr>
            <p:ph idx="1"/>
          </p:nvPr>
        </p:nvSpPr>
        <p:spPr/>
        <p:txBody>
          <a:bodyPr/>
          <a:lstStyle/>
          <a:p>
            <a:r>
              <a:rPr lang="zh-CN" altLang="en-US" dirty="0" smtClean="0"/>
              <a:t>课程概论、</a:t>
            </a:r>
            <a:r>
              <a:rPr lang="zh-CN" altLang="en-US" dirty="0" smtClean="0">
                <a:sym typeface="+mn-ea"/>
              </a:rPr>
              <a:t>飞行原理与飞机结构简要介绍</a:t>
            </a:r>
            <a:r>
              <a:rPr lang="zh-CN" altLang="en-US" dirty="0" smtClean="0"/>
              <a:t>（</a:t>
            </a:r>
            <a:r>
              <a:rPr lang="en-US" altLang="zh-CN" dirty="0" smtClean="0"/>
              <a:t>2</a:t>
            </a:r>
            <a:r>
              <a:rPr lang="zh-CN" altLang="en-US" dirty="0"/>
              <a:t>课时</a:t>
            </a:r>
            <a:r>
              <a:rPr lang="zh-CN" altLang="en-US" dirty="0" smtClean="0"/>
              <a:t>）   </a:t>
            </a:r>
            <a:endParaRPr lang="zh-CN" altLang="en-US" dirty="0" smtClean="0"/>
          </a:p>
          <a:p>
            <a:r>
              <a:rPr lang="zh-CN" altLang="en-US" dirty="0"/>
              <a:t>飞行</a:t>
            </a:r>
            <a:r>
              <a:rPr lang="zh-CN" altLang="en-US" dirty="0" smtClean="0"/>
              <a:t>模拟软件功能介绍（</a:t>
            </a:r>
            <a:r>
              <a:rPr lang="en-US" altLang="zh-CN" dirty="0" smtClean="0"/>
              <a:t>2</a:t>
            </a:r>
            <a:r>
              <a:rPr lang="zh-CN" altLang="en-US" dirty="0" smtClean="0"/>
              <a:t>课时）</a:t>
            </a:r>
            <a:endParaRPr lang="zh-CN" altLang="en-US" dirty="0" smtClean="0"/>
          </a:p>
          <a:p>
            <a:r>
              <a:rPr lang="zh-CN" altLang="en-US" dirty="0" smtClean="0"/>
              <a:t>飞行模拟训练（</a:t>
            </a:r>
            <a:r>
              <a:rPr lang="en-US" altLang="zh-CN" dirty="0" smtClean="0"/>
              <a:t>20</a:t>
            </a:r>
            <a:r>
              <a:rPr lang="zh-CN" altLang="en-US" dirty="0" smtClean="0"/>
              <a:t>课时）</a:t>
            </a:r>
            <a:endParaRPr lang="en-US" altLang="zh-CN" dirty="0" smtClean="0"/>
          </a:p>
          <a:p>
            <a:r>
              <a:rPr lang="zh-CN" altLang="en-US" dirty="0" smtClean="0"/>
              <a:t>随堂测试（</a:t>
            </a:r>
            <a:r>
              <a:rPr lang="en-US" altLang="zh-CN" dirty="0" smtClean="0"/>
              <a:t>2</a:t>
            </a:r>
            <a:r>
              <a:rPr lang="zh-CN" altLang="en-US" dirty="0" smtClean="0"/>
              <a:t>课时）</a:t>
            </a:r>
            <a:endParaRPr lang="en-US" altLang="zh-CN" dirty="0" smtClean="0"/>
          </a:p>
          <a:p>
            <a:endParaRPr lang="zh-CN" altLang="en-US" dirty="0"/>
          </a:p>
        </p:txBody>
      </p:sp>
      <p:sp>
        <p:nvSpPr>
          <p:cNvPr id="4" name="页脚占位符 3"/>
          <p:cNvSpPr>
            <a:spLocks noGrp="1"/>
          </p:cNvSpPr>
          <p:nvPr>
            <p:ph type="ftr" sz="quarter" idx="11"/>
          </p:nvPr>
        </p:nvSpPr>
        <p:spPr/>
        <p:txBody>
          <a:bodyPr/>
          <a:lstStyle/>
          <a:p>
            <a:r>
              <a:rPr lang="zh-CN" altLang="en-US" dirty="0" smtClean="0"/>
              <a:t>MA</a:t>
            </a:r>
            <a:r>
              <a:rPr lang="en-US" altLang="zh-CN" dirty="0" smtClean="0"/>
              <a:t>E102</a:t>
            </a:r>
            <a:endParaRPr lang="en-US" altLang="zh-CN"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考核</a:t>
            </a:r>
            <a:endParaRPr lang="zh-CN" altLang="en-US" dirty="0"/>
          </a:p>
        </p:txBody>
      </p:sp>
      <p:sp>
        <p:nvSpPr>
          <p:cNvPr id="3" name="内容占位符 2"/>
          <p:cNvSpPr>
            <a:spLocks noGrp="1"/>
          </p:cNvSpPr>
          <p:nvPr>
            <p:ph idx="1"/>
          </p:nvPr>
        </p:nvSpPr>
        <p:spPr/>
        <p:txBody>
          <a:bodyPr/>
          <a:lstStyle/>
          <a:p>
            <a:r>
              <a:rPr lang="zh-CN" altLang="en-US" dirty="0" smtClean="0"/>
              <a:t>考核方式：考查     </a:t>
            </a:r>
            <a:endParaRPr lang="en-US" altLang="zh-CN" dirty="0" smtClean="0"/>
          </a:p>
          <a:p>
            <a:r>
              <a:rPr lang="zh-CN" altLang="en-US" dirty="0" smtClean="0"/>
              <a:t>考查内容： </a:t>
            </a:r>
            <a:endParaRPr lang="en-US" altLang="zh-CN" dirty="0" smtClean="0"/>
          </a:p>
          <a:p>
            <a:pPr marL="914400" lvl="1" indent="-457200">
              <a:buFont typeface="+mj-lt"/>
              <a:buAutoNum type="arabicPeriod"/>
            </a:pPr>
            <a:r>
              <a:rPr lang="zh-CN" altLang="en-US" dirty="0" smtClean="0"/>
              <a:t>训练内容达到要求</a:t>
            </a:r>
            <a:endParaRPr lang="en-US" altLang="zh-CN" dirty="0" smtClean="0"/>
          </a:p>
          <a:p>
            <a:pPr marL="914400" lvl="1" indent="-457200">
              <a:buFont typeface="+mj-lt"/>
              <a:buAutoNum type="arabicPeriod"/>
            </a:pPr>
            <a:r>
              <a:rPr lang="zh-CN" altLang="en-US" dirty="0" smtClean="0"/>
              <a:t>期末五边飞行测试</a:t>
            </a:r>
            <a:endParaRPr lang="en-US" altLang="zh-CN" dirty="0" smtClean="0"/>
          </a:p>
          <a:p>
            <a:pPr marL="914400" lvl="1" indent="-457200">
              <a:buFont typeface="+mj-lt"/>
              <a:buAutoNum type="arabicPeriod"/>
            </a:pPr>
            <a:r>
              <a:rPr lang="zh-CN" altLang="en-US" dirty="0" smtClean="0"/>
              <a:t>基本飞行原理、飞机结构问题问答</a:t>
            </a:r>
            <a:endParaRPr lang="zh-CN" altLang="en-US" dirty="0" smtClean="0"/>
          </a:p>
        </p:txBody>
      </p:sp>
      <p:sp>
        <p:nvSpPr>
          <p:cNvPr id="4" name="页脚占位符 3"/>
          <p:cNvSpPr>
            <a:spLocks noGrp="1"/>
          </p:cNvSpPr>
          <p:nvPr>
            <p:ph type="ftr" sz="quarter" idx="11"/>
          </p:nvPr>
        </p:nvSpPr>
        <p:spPr/>
        <p:txBody>
          <a:bodyPr/>
          <a:lstStyle/>
          <a:p>
            <a:r>
              <a:rPr lang="zh-CN" altLang="en-US" dirty="0" smtClean="0"/>
              <a:t>MA</a:t>
            </a:r>
            <a:r>
              <a:rPr lang="en-US" altLang="zh-CN" dirty="0" smtClean="0"/>
              <a:t>E102</a:t>
            </a:r>
            <a:endParaRPr lang="en-US" altLang="zh-CN"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教学工具</a:t>
            </a:r>
            <a:endParaRPr lang="zh-CN" altLang="en-US" dirty="0"/>
          </a:p>
        </p:txBody>
      </p:sp>
      <p:sp>
        <p:nvSpPr>
          <p:cNvPr id="3" name="内容占位符 2"/>
          <p:cNvSpPr>
            <a:spLocks noGrp="1"/>
          </p:cNvSpPr>
          <p:nvPr>
            <p:ph idx="1"/>
          </p:nvPr>
        </p:nvSpPr>
        <p:spPr>
          <a:xfrm>
            <a:off x="838200" y="1825625"/>
            <a:ext cx="6082717" cy="4351338"/>
          </a:xfrm>
        </p:spPr>
        <p:txBody>
          <a:bodyPr/>
          <a:lstStyle/>
          <a:p>
            <a:r>
              <a:rPr lang="zh-CN" altLang="en-US" dirty="0"/>
              <a:t>塞斯</a:t>
            </a:r>
            <a:r>
              <a:rPr lang="zh-CN" altLang="en-US" dirty="0" smtClean="0"/>
              <a:t>纳</a:t>
            </a:r>
            <a:r>
              <a:rPr lang="en-US" altLang="zh-CN" dirty="0" smtClean="0"/>
              <a:t>172</a:t>
            </a:r>
            <a:r>
              <a:rPr lang="zh-CN" altLang="en-US" dirty="0" smtClean="0"/>
              <a:t>飞行模拟器</a:t>
            </a:r>
            <a:endParaRPr lang="en-US" altLang="zh-CN" dirty="0" smtClean="0"/>
          </a:p>
          <a:p>
            <a:r>
              <a:rPr lang="zh-CN" altLang="en-US" dirty="0"/>
              <a:t>罗技</a:t>
            </a:r>
            <a:r>
              <a:rPr lang="en-US" altLang="zh-CN" dirty="0"/>
              <a:t>Flight Yoke System</a:t>
            </a:r>
            <a:endParaRPr lang="en-US" altLang="zh-CN" dirty="0"/>
          </a:p>
          <a:p>
            <a:r>
              <a:rPr lang="en-US" altLang="zh-CN" dirty="0"/>
              <a:t>Prepar3D</a:t>
            </a:r>
            <a:r>
              <a:rPr lang="zh-CN" altLang="en-US" dirty="0" smtClean="0"/>
              <a:t>软件（可用</a:t>
            </a:r>
            <a:r>
              <a:rPr lang="en-US" altLang="zh-CN" dirty="0" smtClean="0"/>
              <a:t>X-plane</a:t>
            </a:r>
            <a:r>
              <a:rPr lang="zh-CN" altLang="en-US" dirty="0" smtClean="0"/>
              <a:t>与微软模拟飞行练习）     </a:t>
            </a:r>
            <a:endParaRPr lang="en-US" altLang="zh-CN" dirty="0" smtClean="0"/>
          </a:p>
          <a:p>
            <a:endParaRPr lang="en-US" altLang="zh-CN" dirty="0" smtClean="0"/>
          </a:p>
        </p:txBody>
      </p:sp>
      <p:sp>
        <p:nvSpPr>
          <p:cNvPr id="4" name="页脚占位符 3"/>
          <p:cNvSpPr>
            <a:spLocks noGrp="1"/>
          </p:cNvSpPr>
          <p:nvPr>
            <p:ph type="ftr" sz="quarter" idx="11"/>
          </p:nvPr>
        </p:nvSpPr>
        <p:spPr/>
        <p:txBody>
          <a:bodyPr/>
          <a:lstStyle/>
          <a:p>
            <a:r>
              <a:rPr lang="zh-CN" altLang="en-US" dirty="0" smtClean="0"/>
              <a:t>MA</a:t>
            </a:r>
            <a:r>
              <a:rPr lang="en-US" altLang="zh-CN" dirty="0" smtClean="0"/>
              <a:t>E102</a:t>
            </a:r>
            <a:endParaRPr lang="en-US" altLang="zh-CN"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026563" y="1027906"/>
            <a:ext cx="3749065" cy="2108849"/>
          </a:xfrm>
          <a:prstGeom prst="rect">
            <a:avLst/>
          </a:prstGeom>
        </p:spPr>
      </p:pic>
      <p:pic>
        <p:nvPicPr>
          <p:cNvPr id="1026" name="Picture 2" descr="https://mae.sustech.edu.cn/cn/simulation/Public/attached/image/20200830/20200830060221_75714.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26315" y="3433927"/>
            <a:ext cx="3247968" cy="26305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飞行模拟软件</a:t>
            </a:r>
            <a:endParaRPr lang="zh-CN" altLang="en-US" dirty="0"/>
          </a:p>
        </p:txBody>
      </p:sp>
      <p:sp>
        <p:nvSpPr>
          <p:cNvPr id="3" name="内容占位符 2"/>
          <p:cNvSpPr>
            <a:spLocks noGrp="1"/>
          </p:cNvSpPr>
          <p:nvPr>
            <p:ph idx="1"/>
          </p:nvPr>
        </p:nvSpPr>
        <p:spPr>
          <a:xfrm>
            <a:off x="838200" y="1452712"/>
            <a:ext cx="10400607" cy="4972006"/>
          </a:xfrm>
        </p:spPr>
        <p:txBody>
          <a:bodyPr>
            <a:normAutofit fontScale="70000" lnSpcReduction="20000"/>
          </a:bodyPr>
          <a:lstStyle/>
          <a:p>
            <a:pPr>
              <a:lnSpc>
                <a:spcPct val="140000"/>
              </a:lnSpc>
            </a:pPr>
            <a:r>
              <a:rPr lang="en-US" altLang="zh-CN" dirty="0"/>
              <a:t>Flight Gear</a:t>
            </a:r>
            <a:r>
              <a:rPr lang="zh-CN" altLang="en-US" dirty="0"/>
              <a:t>：免费开源的多平台飞行模拟软件，使用</a:t>
            </a:r>
            <a:r>
              <a:rPr lang="en-US" altLang="zh-CN" dirty="0" err="1"/>
              <a:t>SimGear</a:t>
            </a:r>
            <a:r>
              <a:rPr lang="zh-CN" altLang="en-US" dirty="0"/>
              <a:t>作为模拟引擎。   </a:t>
            </a:r>
            <a:endParaRPr lang="en-US" altLang="zh-CN" dirty="0"/>
          </a:p>
          <a:p>
            <a:pPr>
              <a:lnSpc>
                <a:spcPct val="140000"/>
              </a:lnSpc>
            </a:pPr>
            <a:r>
              <a:rPr lang="en-US" altLang="zh-CN" dirty="0"/>
              <a:t>X-plane</a:t>
            </a:r>
            <a:r>
              <a:rPr lang="zh-CN" altLang="en-US" dirty="0"/>
              <a:t>：</a:t>
            </a:r>
            <a:r>
              <a:rPr lang="en-US" altLang="zh-CN" dirty="0"/>
              <a:t>Laminar Research</a:t>
            </a:r>
            <a:r>
              <a:rPr lang="zh-CN" altLang="en-US" dirty="0"/>
              <a:t>公司开发，包括一些轻型飞机，商用飞机，以及军用飞机，还有包括几乎全球的地景。同时该软件扩展性非常好，支持开发人员任意扩展功能，比如添加自己设计的飞机，或者自己制作的地景。</a:t>
            </a:r>
            <a:endParaRPr lang="en-US" altLang="zh-CN" dirty="0"/>
          </a:p>
          <a:p>
            <a:pPr>
              <a:lnSpc>
                <a:spcPct val="140000"/>
              </a:lnSpc>
            </a:pPr>
            <a:r>
              <a:rPr lang="en-US" altLang="zh-CN" dirty="0"/>
              <a:t>Microsoft Flight Simulator </a:t>
            </a:r>
            <a:r>
              <a:rPr lang="zh-CN" altLang="en-US" dirty="0"/>
              <a:t>：有超过</a:t>
            </a:r>
            <a:r>
              <a:rPr lang="en-US" altLang="zh-CN" dirty="0"/>
              <a:t>3</a:t>
            </a:r>
            <a:r>
              <a:rPr lang="zh-CN" altLang="en-US" dirty="0"/>
              <a:t>万</a:t>
            </a:r>
            <a:r>
              <a:rPr lang="en-US" altLang="zh-CN" dirty="0"/>
              <a:t>7</a:t>
            </a:r>
            <a:r>
              <a:rPr lang="zh-CN" altLang="en-US" dirty="0"/>
              <a:t>千个机场、</a:t>
            </a:r>
            <a:r>
              <a:rPr lang="en-US" altLang="zh-CN" dirty="0"/>
              <a:t>2</a:t>
            </a:r>
            <a:r>
              <a:rPr lang="zh-CN" altLang="en-US" dirty="0"/>
              <a:t>百万个城市、</a:t>
            </a:r>
            <a:r>
              <a:rPr lang="en-US" altLang="zh-CN" dirty="0"/>
              <a:t>15</a:t>
            </a:r>
            <a:r>
              <a:rPr lang="zh-CN" altLang="en-US" dirty="0"/>
              <a:t>亿座建筑物，以及真实的山脉、道路、树木、河川、动物、交通等。从轻型飞机到商用喷射机，玩家可以通过各式各样的飞机来磨练自己的飞行技术。在包括精确的风速和风向、温度、湿度、降雨和光线等逼真的真实天气条件下，享受白天或黑夜的飞行。</a:t>
            </a:r>
            <a:endParaRPr lang="en-US" altLang="zh-CN" dirty="0"/>
          </a:p>
          <a:p>
            <a:pPr>
              <a:lnSpc>
                <a:spcPct val="140000"/>
              </a:lnSpc>
            </a:pPr>
            <a:r>
              <a:rPr lang="en-US" altLang="zh-CN" dirty="0"/>
              <a:t>Prepar3D</a:t>
            </a:r>
            <a:r>
              <a:rPr lang="zh-CN" altLang="en-US" dirty="0"/>
              <a:t>：基于微软飞行模拟，原来主要用于军事训练。软件开发套件（</a:t>
            </a:r>
            <a:r>
              <a:rPr lang="en-US" altLang="zh-CN" dirty="0"/>
              <a:t>SDK</a:t>
            </a:r>
            <a:r>
              <a:rPr lang="zh-CN" altLang="en-US" dirty="0"/>
              <a:t>）培育了开放、繁荣的开发人员生态系统。该</a:t>
            </a:r>
            <a:r>
              <a:rPr lang="en-US" altLang="zh-CN" dirty="0"/>
              <a:t>SDK</a:t>
            </a:r>
            <a:r>
              <a:rPr lang="zh-CN" altLang="en-US" dirty="0"/>
              <a:t>支持</a:t>
            </a:r>
            <a:r>
              <a:rPr lang="en-US" altLang="zh-CN" dirty="0"/>
              <a:t>Prepar3D</a:t>
            </a:r>
            <a:r>
              <a:rPr lang="zh-CN" altLang="en-US" dirty="0"/>
              <a:t>开放开发架构的理念，并鼓励第三方为</a:t>
            </a:r>
            <a:r>
              <a:rPr lang="en-US" altLang="zh-CN" dirty="0"/>
              <a:t>Prepar3D</a:t>
            </a:r>
            <a:r>
              <a:rPr lang="zh-CN" altLang="en-US" dirty="0"/>
              <a:t>平台带来新的创新，改进的附件和培训内容。</a:t>
            </a:r>
            <a:endParaRPr lang="en-US" altLang="zh-CN" dirty="0"/>
          </a:p>
          <a:p>
            <a:pPr>
              <a:lnSpc>
                <a:spcPct val="140000"/>
              </a:lnSpc>
            </a:pPr>
            <a:r>
              <a:rPr lang="en-US" altLang="zh-CN" dirty="0"/>
              <a:t>Infinite Flight</a:t>
            </a:r>
            <a:r>
              <a:rPr lang="zh-CN" altLang="en-US" dirty="0"/>
              <a:t>：手机飞行模拟游戏软件，提供全面的飞行模拟体验，可以在世界各地区驾驶许多不同的飞机，各种气象条件，并具有广泛的重量配置。使用先进的相机和回放系统，让你全面查看你的整个飞行细节，从而提高技能。</a:t>
            </a:r>
            <a:endParaRPr lang="en-US" altLang="zh-CN" dirty="0"/>
          </a:p>
          <a:p>
            <a:pPr>
              <a:lnSpc>
                <a:spcPct val="140000"/>
              </a:lnSpc>
            </a:pPr>
            <a:endParaRPr lang="en-US" altLang="zh-CN" dirty="0"/>
          </a:p>
        </p:txBody>
      </p:sp>
      <p:sp>
        <p:nvSpPr>
          <p:cNvPr id="4" name="页脚占位符 3"/>
          <p:cNvSpPr>
            <a:spLocks noGrp="1"/>
          </p:cNvSpPr>
          <p:nvPr>
            <p:ph type="ftr" sz="quarter" idx="11"/>
          </p:nvPr>
        </p:nvSpPr>
        <p:spPr/>
        <p:txBody>
          <a:bodyPr/>
          <a:lstStyle/>
          <a:p>
            <a:r>
              <a:rPr lang="zh-CN" altLang="en-US" dirty="0" smtClean="0"/>
              <a:t>MA</a:t>
            </a:r>
            <a:r>
              <a:rPr lang="en-US" altLang="zh-CN" dirty="0" smtClean="0"/>
              <a:t>E102</a:t>
            </a:r>
            <a:endParaRPr lang="en-US" altLang="zh-CN"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飞行模拟器介绍</a:t>
            </a:r>
            <a:endParaRPr lang="zh-CN" altLang="en-US" dirty="0"/>
          </a:p>
        </p:txBody>
      </p:sp>
      <p:sp>
        <p:nvSpPr>
          <p:cNvPr id="3" name="内容占位符 2"/>
          <p:cNvSpPr>
            <a:spLocks noGrp="1"/>
          </p:cNvSpPr>
          <p:nvPr>
            <p:ph idx="1"/>
          </p:nvPr>
        </p:nvSpPr>
        <p:spPr>
          <a:xfrm>
            <a:off x="778379" y="1627351"/>
            <a:ext cx="6235931" cy="4728999"/>
          </a:xfrm>
        </p:spPr>
        <p:txBody>
          <a:bodyPr>
            <a:normAutofit fontScale="85000" lnSpcReduction="10000"/>
          </a:bodyPr>
          <a:lstStyle/>
          <a:p>
            <a:pPr>
              <a:lnSpc>
                <a:spcPct val="140000"/>
              </a:lnSpc>
            </a:pPr>
            <a:r>
              <a:rPr lang="zh-CN" altLang="en-US" dirty="0"/>
              <a:t>六自由度动感塞斯纳</a:t>
            </a:r>
            <a:r>
              <a:rPr lang="en-US" altLang="zh-CN" dirty="0"/>
              <a:t>172</a:t>
            </a:r>
            <a:r>
              <a:rPr lang="zh-CN" altLang="en-US" dirty="0"/>
              <a:t>飞行模拟器 </a:t>
            </a:r>
            <a:endParaRPr lang="zh-CN" altLang="en-US" dirty="0"/>
          </a:p>
          <a:p>
            <a:pPr>
              <a:lnSpc>
                <a:spcPct val="140000"/>
              </a:lnSpc>
            </a:pPr>
            <a:r>
              <a:rPr lang="zh-CN" altLang="en-US" dirty="0"/>
              <a:t>在虚拟环境中复现真实的飞机起飞、飞行、下降等驾驶过程；</a:t>
            </a:r>
            <a:endParaRPr lang="zh-CN" altLang="en-US" dirty="0"/>
          </a:p>
          <a:p>
            <a:pPr>
              <a:lnSpc>
                <a:spcPct val="140000"/>
              </a:lnSpc>
            </a:pPr>
            <a:r>
              <a:rPr lang="zh-CN" altLang="en-US" dirty="0"/>
              <a:t>了解飞行器基本原理；</a:t>
            </a:r>
            <a:endParaRPr lang="zh-CN" altLang="en-US" dirty="0"/>
          </a:p>
          <a:p>
            <a:pPr>
              <a:lnSpc>
                <a:spcPct val="140000"/>
              </a:lnSpc>
            </a:pPr>
            <a:r>
              <a:rPr lang="zh-CN" altLang="en-US" dirty="0"/>
              <a:t>配合六自由度全动感平台对飞行过程中的各种动态动作真实反馈；</a:t>
            </a:r>
            <a:endParaRPr lang="zh-CN" altLang="en-US" dirty="0"/>
          </a:p>
          <a:p>
            <a:pPr>
              <a:lnSpc>
                <a:spcPct val="140000"/>
              </a:lnSpc>
            </a:pPr>
            <a:r>
              <a:rPr lang="zh-CN" altLang="en-US" dirty="0"/>
              <a:t>配备高度仿真的显示面板，对飞行状态和数据实时显示；</a:t>
            </a:r>
            <a:endParaRPr lang="zh-CN" altLang="en-US" dirty="0"/>
          </a:p>
          <a:p>
            <a:pPr>
              <a:lnSpc>
                <a:spcPct val="140000"/>
              </a:lnSpc>
            </a:pPr>
            <a:r>
              <a:rPr lang="zh-CN" altLang="en-US" dirty="0"/>
              <a:t>驾驶台对飞行过程中的所需的主要功能均可调控：摇杆、脚舵、襟翼角度调整等。</a:t>
            </a:r>
            <a:endParaRPr lang="zh-CN" altLang="en-US" dirty="0"/>
          </a:p>
        </p:txBody>
      </p:sp>
      <p:sp>
        <p:nvSpPr>
          <p:cNvPr id="4" name="页脚占位符 3"/>
          <p:cNvSpPr>
            <a:spLocks noGrp="1"/>
          </p:cNvSpPr>
          <p:nvPr>
            <p:ph type="ftr" sz="quarter" idx="11"/>
          </p:nvPr>
        </p:nvSpPr>
        <p:spPr/>
        <p:txBody>
          <a:bodyPr/>
          <a:lstStyle/>
          <a:p>
            <a:r>
              <a:rPr lang="zh-CN" altLang="en-US" dirty="0"/>
              <a:t>MA</a:t>
            </a:r>
            <a:r>
              <a:rPr lang="en-US" altLang="zh-CN" dirty="0" smtClean="0"/>
              <a:t>E102</a:t>
            </a:r>
            <a:endParaRPr lang="en-US" altLang="zh-CN"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 name="page4image30410576.jpg" descr="page4image30410576.jpg"/>
          <p:cNvPicPr>
            <a:picLocks noChangeAspect="1"/>
          </p:cNvPicPr>
          <p:nvPr/>
        </p:nvPicPr>
        <p:blipFill>
          <a:blip r:embed="rId1"/>
          <a:stretch>
            <a:fillRect/>
          </a:stretch>
        </p:blipFill>
        <p:spPr>
          <a:xfrm>
            <a:off x="7137093" y="2176477"/>
            <a:ext cx="4681222" cy="3649634"/>
          </a:xfrm>
          <a:prstGeom prst="rect">
            <a:avLst/>
          </a:prstGeom>
          <a:ln w="12700">
            <a:miter lim="4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zh-CN" altLang="en-US" dirty="0"/>
              <a:t>MA</a:t>
            </a:r>
            <a:r>
              <a:rPr lang="en-US" altLang="zh-CN" dirty="0" smtClean="0"/>
              <a:t>E102</a:t>
            </a:r>
            <a:endParaRPr lang="en-US" altLang="zh-CN"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graphicFrame>
        <p:nvGraphicFramePr>
          <p:cNvPr id="13" name="表格"/>
          <p:cNvGraphicFramePr/>
          <p:nvPr/>
        </p:nvGraphicFramePr>
        <p:xfrm>
          <a:off x="1521230" y="947651"/>
          <a:ext cx="8545485" cy="5367755"/>
        </p:xfrm>
        <a:graphic>
          <a:graphicData uri="http://schemas.openxmlformats.org/drawingml/2006/table">
            <a:tbl>
              <a:tblPr/>
              <a:tblGrid>
                <a:gridCol w="826329"/>
                <a:gridCol w="1245870"/>
                <a:gridCol w="5738076"/>
                <a:gridCol w="735210"/>
              </a:tblGrid>
              <a:tr h="436690">
                <a:tc>
                  <a:txBody>
                    <a:bodyPr/>
                    <a:lstStyle/>
                    <a:p>
                      <a:pPr algn="ctr" defTabSz="266700">
                        <a:defRPr sz="1800" spc="0">
                          <a:solidFill>
                            <a:srgbClr val="000000"/>
                          </a:solidFill>
                        </a:defRPr>
                      </a:pPr>
                      <a:r>
                        <a:rPr sz="2000" b="0" dirty="0" err="1">
                          <a:solidFill>
                            <a:schemeClr val="tx1"/>
                          </a:solidFill>
                          <a:latin typeface="+mn-ea"/>
                          <a:ea typeface="+mn-ea"/>
                          <a:cs typeface="Kai Regular"/>
                          <a:sym typeface="Kai Regular"/>
                        </a:rPr>
                        <a:t>序号</a:t>
                      </a:r>
                      <a:endParaRPr sz="2000" b="0" dirty="0">
                        <a:solidFill>
                          <a:schemeClr val="tx1"/>
                        </a:solidFill>
                        <a:latin typeface="+mn-ea"/>
                        <a:ea typeface="+mn-ea"/>
                        <a:cs typeface="Kai Regular"/>
                        <a:sym typeface="Kai Regular"/>
                      </a:endParaRPr>
                    </a:p>
                  </a:txBody>
                  <a:tcPr marL="63500" marR="63500" marT="0" marB="0" anchor="ctr" horzOverflow="overflow"/>
                </a:tc>
                <a:tc>
                  <a:txBody>
                    <a:bodyPr/>
                    <a:lstStyle/>
                    <a:p>
                      <a:pPr algn="ctr" defTabSz="266700">
                        <a:defRPr sz="1800" spc="0">
                          <a:solidFill>
                            <a:srgbClr val="000000"/>
                          </a:solidFill>
                        </a:defRPr>
                      </a:pPr>
                      <a:r>
                        <a:rPr sz="2000" b="0" dirty="0" err="1">
                          <a:solidFill>
                            <a:schemeClr val="tx1"/>
                          </a:solidFill>
                          <a:latin typeface="+mn-ea"/>
                          <a:ea typeface="+mn-ea"/>
                          <a:cs typeface="Kai Regular"/>
                          <a:sym typeface="Kai Regular"/>
                        </a:rPr>
                        <a:t>名称</a:t>
                      </a:r>
                      <a:endParaRPr sz="2000" b="0" dirty="0">
                        <a:solidFill>
                          <a:schemeClr val="tx1"/>
                        </a:solidFill>
                        <a:latin typeface="+mn-ea"/>
                        <a:ea typeface="+mn-ea"/>
                        <a:cs typeface="Kai Regular"/>
                        <a:sym typeface="Kai Regular"/>
                      </a:endParaRPr>
                    </a:p>
                  </a:txBody>
                  <a:tcPr marL="63500" marR="63500" marT="0" marB="0" anchor="ctr" horzOverflow="overflow"/>
                </a:tc>
                <a:tc>
                  <a:txBody>
                    <a:bodyPr/>
                    <a:lstStyle/>
                    <a:p>
                      <a:pPr algn="ctr" defTabSz="266700">
                        <a:defRPr sz="1800" spc="0">
                          <a:solidFill>
                            <a:srgbClr val="000000"/>
                          </a:solidFill>
                        </a:defRPr>
                      </a:pPr>
                      <a:r>
                        <a:rPr sz="2000" b="0">
                          <a:solidFill>
                            <a:schemeClr val="tx1"/>
                          </a:solidFill>
                          <a:latin typeface="+mn-ea"/>
                          <a:ea typeface="+mn-ea"/>
                          <a:cs typeface="Kai Regular"/>
                          <a:sym typeface="Kai Regular"/>
                        </a:rPr>
                        <a:t>配置</a:t>
                      </a:r>
                      <a:endParaRPr sz="2000" b="0">
                        <a:solidFill>
                          <a:schemeClr val="tx1"/>
                        </a:solidFill>
                        <a:latin typeface="+mn-ea"/>
                        <a:ea typeface="+mn-ea"/>
                        <a:cs typeface="Kai Regular"/>
                        <a:sym typeface="Kai Regular"/>
                      </a:endParaRPr>
                    </a:p>
                  </a:txBody>
                  <a:tcPr marL="63500" marR="63500" marT="0" marB="0" anchor="ctr" horzOverflow="overflow"/>
                </a:tc>
                <a:tc>
                  <a:txBody>
                    <a:bodyPr/>
                    <a:lstStyle/>
                    <a:p>
                      <a:pPr algn="ctr" defTabSz="266700">
                        <a:defRPr sz="1800" spc="0">
                          <a:solidFill>
                            <a:srgbClr val="000000"/>
                          </a:solidFill>
                        </a:defRPr>
                      </a:pPr>
                      <a:r>
                        <a:rPr sz="1600">
                          <a:solidFill>
                            <a:schemeClr val="tx1"/>
                          </a:solidFill>
                          <a:latin typeface="+mn-ea"/>
                          <a:ea typeface="+mn-ea"/>
                          <a:cs typeface="Kai Regular"/>
                          <a:sym typeface="Kai Regular"/>
                        </a:rPr>
                        <a:t>备注</a:t>
                      </a:r>
                      <a:endParaRPr sz="1600">
                        <a:solidFill>
                          <a:schemeClr val="tx1"/>
                        </a:solidFill>
                        <a:latin typeface="+mn-ea"/>
                        <a:ea typeface="+mn-ea"/>
                        <a:cs typeface="Kai Regular"/>
                        <a:sym typeface="Kai Regular"/>
                      </a:endParaRPr>
                    </a:p>
                  </a:txBody>
                  <a:tcPr marL="63500" marR="63500" marT="0" marB="0" anchor="ctr" horzOverflow="overflow"/>
                </a:tc>
              </a:tr>
              <a:tr h="436690">
                <a:tc>
                  <a:txBody>
                    <a:bodyPr/>
                    <a:lstStyle/>
                    <a:p>
                      <a:pPr algn="ctr" defTabSz="266700">
                        <a:defRPr sz="1800" spc="0">
                          <a:solidFill>
                            <a:srgbClr val="000000"/>
                          </a:solidFill>
                        </a:defRPr>
                      </a:pPr>
                      <a:r>
                        <a:rPr sz="2000" b="0">
                          <a:solidFill>
                            <a:schemeClr val="tx1"/>
                          </a:solidFill>
                          <a:latin typeface="+mn-ea"/>
                          <a:ea typeface="+mn-ea"/>
                          <a:cs typeface="Kai Regular"/>
                          <a:sym typeface="Kai Regular"/>
                        </a:rPr>
                        <a:t>1</a:t>
                      </a:r>
                      <a:endParaRPr sz="2000" b="0">
                        <a:solidFill>
                          <a:schemeClr val="tx1"/>
                        </a:solidFill>
                        <a:latin typeface="+mn-ea"/>
                        <a:ea typeface="+mn-ea"/>
                        <a:cs typeface="Kai Regular"/>
                        <a:sym typeface="Kai Regular"/>
                      </a:endParaRPr>
                    </a:p>
                  </a:txBody>
                  <a:tcPr marL="63500" marR="63500" marT="0" marB="0" anchor="ctr" horzOverflow="overflow"/>
                </a:tc>
                <a:tc>
                  <a:txBody>
                    <a:bodyPr/>
                    <a:lstStyle/>
                    <a:p>
                      <a:pPr algn="ctr" defTabSz="266700">
                        <a:defRPr sz="1800" spc="0">
                          <a:solidFill>
                            <a:srgbClr val="000000"/>
                          </a:solidFill>
                        </a:defRPr>
                      </a:pPr>
                      <a:r>
                        <a:rPr sz="2000" b="0" dirty="0" err="1">
                          <a:solidFill>
                            <a:schemeClr val="tx1"/>
                          </a:solidFill>
                          <a:latin typeface="+mn-ea"/>
                          <a:ea typeface="+mn-ea"/>
                          <a:cs typeface="Kai Regular"/>
                          <a:sym typeface="Kai Regular"/>
                        </a:rPr>
                        <a:t>显示系统</a:t>
                      </a:r>
                      <a:endParaRPr sz="2000" b="0" dirty="0">
                        <a:solidFill>
                          <a:schemeClr val="tx1"/>
                        </a:solidFill>
                        <a:latin typeface="+mn-ea"/>
                        <a:ea typeface="+mn-ea"/>
                        <a:cs typeface="Kai Regular"/>
                        <a:sym typeface="Kai Regular"/>
                      </a:endParaRPr>
                    </a:p>
                  </a:txBody>
                  <a:tcPr marL="63500" marR="63500" marT="0" marB="0" anchor="ctr" horzOverflow="overflow"/>
                </a:tc>
                <a:tc>
                  <a:txBody>
                    <a:bodyPr/>
                    <a:lstStyle/>
                    <a:p>
                      <a:pPr algn="l" defTabSz="266700">
                        <a:defRPr sz="1800" spc="0">
                          <a:solidFill>
                            <a:srgbClr val="000000"/>
                          </a:solidFill>
                        </a:defRPr>
                      </a:pPr>
                      <a:r>
                        <a:rPr sz="2000" b="0" dirty="0">
                          <a:solidFill>
                            <a:schemeClr val="tx1"/>
                          </a:solidFill>
                          <a:latin typeface="+mn-ea"/>
                          <a:ea typeface="+mn-ea"/>
                          <a:cs typeface="Kai Regular"/>
                          <a:sym typeface="Kai Regular"/>
                        </a:rPr>
                        <a:t>32寸*3屏，分辨率:5760*1080</a:t>
                      </a:r>
                      <a:endParaRPr sz="2000" b="0" dirty="0">
                        <a:solidFill>
                          <a:schemeClr val="tx1"/>
                        </a:solidFill>
                        <a:latin typeface="+mn-ea"/>
                        <a:ea typeface="+mn-ea"/>
                        <a:cs typeface="Kai Regular"/>
                        <a:sym typeface="Kai Regular"/>
                      </a:endParaRPr>
                    </a:p>
                  </a:txBody>
                  <a:tcPr marL="63500" marR="63500" marT="0" marB="0" anchor="ctr" horzOverflow="overflow"/>
                </a:tc>
                <a:tc>
                  <a:txBody>
                    <a:bodyPr/>
                    <a:lstStyle/>
                    <a:p>
                      <a:pPr algn="ctr">
                        <a:defRPr sz="4500" spc="45">
                          <a:latin typeface="Kai Regular"/>
                          <a:ea typeface="Kai Regular"/>
                          <a:cs typeface="Kai Regular"/>
                          <a:sym typeface="Kai Regular"/>
                        </a:defRPr>
                      </a:pPr>
                      <a:endParaRPr sz="1600">
                        <a:solidFill>
                          <a:schemeClr val="tx1"/>
                        </a:solidFill>
                        <a:latin typeface="+mn-ea"/>
                        <a:ea typeface="+mn-ea"/>
                      </a:endParaRPr>
                    </a:p>
                  </a:txBody>
                  <a:tcPr marL="63500" marR="63500" marT="0" marB="0" anchor="ctr" horzOverflow="overflow"/>
                </a:tc>
              </a:tr>
              <a:tr h="1965105">
                <a:tc>
                  <a:txBody>
                    <a:bodyPr/>
                    <a:lstStyle/>
                    <a:p>
                      <a:pPr algn="ctr" defTabSz="266700">
                        <a:defRPr sz="1800" spc="0">
                          <a:solidFill>
                            <a:srgbClr val="000000"/>
                          </a:solidFill>
                        </a:defRPr>
                      </a:pPr>
                      <a:r>
                        <a:rPr sz="2000" b="0" dirty="0">
                          <a:solidFill>
                            <a:schemeClr val="tx1"/>
                          </a:solidFill>
                          <a:latin typeface="+mn-ea"/>
                          <a:ea typeface="+mn-ea"/>
                          <a:cs typeface="Kai Regular"/>
                          <a:sym typeface="Kai Regular"/>
                        </a:rPr>
                        <a:t>2</a:t>
                      </a:r>
                      <a:endParaRPr sz="2000" b="0" dirty="0">
                        <a:solidFill>
                          <a:schemeClr val="tx1"/>
                        </a:solidFill>
                        <a:latin typeface="+mn-ea"/>
                        <a:ea typeface="+mn-ea"/>
                        <a:cs typeface="Kai Regular"/>
                        <a:sym typeface="Kai Regular"/>
                      </a:endParaRPr>
                    </a:p>
                  </a:txBody>
                  <a:tcPr marL="63500" marR="63500" marT="0" marB="0" anchor="ctr" horzOverflow="overflow"/>
                </a:tc>
                <a:tc>
                  <a:txBody>
                    <a:bodyPr/>
                    <a:lstStyle/>
                    <a:p>
                      <a:pPr algn="ctr" defTabSz="266700">
                        <a:defRPr sz="1800" spc="0">
                          <a:solidFill>
                            <a:srgbClr val="000000"/>
                          </a:solidFill>
                        </a:defRPr>
                      </a:pPr>
                      <a:r>
                        <a:rPr sz="2000" b="0" dirty="0" err="1">
                          <a:solidFill>
                            <a:schemeClr val="tx1"/>
                          </a:solidFill>
                          <a:latin typeface="+mn-ea"/>
                          <a:ea typeface="+mn-ea"/>
                          <a:cs typeface="Kai Regular"/>
                          <a:sym typeface="Kai Regular"/>
                        </a:rPr>
                        <a:t>驾驶舱</a:t>
                      </a:r>
                      <a:endParaRPr sz="2000" b="0" dirty="0">
                        <a:solidFill>
                          <a:schemeClr val="tx1"/>
                        </a:solidFill>
                        <a:latin typeface="+mn-ea"/>
                        <a:ea typeface="+mn-ea"/>
                        <a:cs typeface="Kai Regular"/>
                        <a:sym typeface="Kai Regular"/>
                      </a:endParaRPr>
                    </a:p>
                  </a:txBody>
                  <a:tcPr marL="63500" marR="63500" marT="0" marB="0" anchor="ctr" horzOverflow="overflow"/>
                </a:tc>
                <a:tc>
                  <a:txBody>
                    <a:bodyPr/>
                    <a:lstStyle/>
                    <a:p>
                      <a:pPr algn="l" defTabSz="266700">
                        <a:defRPr sz="1800" spc="0">
                          <a:solidFill>
                            <a:srgbClr val="000000"/>
                          </a:solidFill>
                        </a:defRPr>
                      </a:pPr>
                      <a:r>
                        <a:rPr sz="2000" b="0" dirty="0">
                          <a:solidFill>
                            <a:schemeClr val="tx1"/>
                          </a:solidFill>
                          <a:latin typeface="+mn-ea"/>
                          <a:ea typeface="+mn-ea"/>
                          <a:cs typeface="Kai Regular"/>
                          <a:sym typeface="Kai Regular"/>
                        </a:rPr>
                        <a:t>⧫</a:t>
                      </a:r>
                      <a:r>
                        <a:rPr sz="2000" b="0" dirty="0" err="1">
                          <a:solidFill>
                            <a:schemeClr val="tx1"/>
                          </a:solidFill>
                          <a:latin typeface="+mn-ea"/>
                          <a:ea typeface="+mn-ea"/>
                          <a:cs typeface="Kai Regular"/>
                          <a:sym typeface="Kai Regular"/>
                        </a:rPr>
                        <a:t>摇杆（左右联动</a:t>
                      </a:r>
                      <a:r>
                        <a:rPr sz="2000" b="0" dirty="0">
                          <a:solidFill>
                            <a:schemeClr val="tx1"/>
                          </a:solidFill>
                          <a:latin typeface="+mn-ea"/>
                          <a:ea typeface="+mn-ea"/>
                          <a:cs typeface="Kai Regular"/>
                          <a:sym typeface="Kai Regular"/>
                        </a:rPr>
                        <a:t>）
⧫</a:t>
                      </a:r>
                      <a:r>
                        <a:rPr sz="2000" b="0" dirty="0" err="1">
                          <a:solidFill>
                            <a:schemeClr val="tx1"/>
                          </a:solidFill>
                          <a:latin typeface="+mn-ea"/>
                          <a:ea typeface="+mn-ea"/>
                          <a:cs typeface="Kai Regular"/>
                          <a:sym typeface="Kai Regular"/>
                        </a:rPr>
                        <a:t>脚舵（左右联动</a:t>
                      </a:r>
                      <a:r>
                        <a:rPr sz="2000" b="0" dirty="0">
                          <a:solidFill>
                            <a:schemeClr val="tx1"/>
                          </a:solidFill>
                          <a:latin typeface="+mn-ea"/>
                          <a:ea typeface="+mn-ea"/>
                          <a:cs typeface="Kai Regular"/>
                          <a:sym typeface="Kai Regular"/>
                        </a:rPr>
                        <a:t>）
⧫</a:t>
                      </a:r>
                      <a:r>
                        <a:rPr sz="2000" b="0" dirty="0" err="1">
                          <a:solidFill>
                            <a:schemeClr val="tx1"/>
                          </a:solidFill>
                          <a:latin typeface="+mn-ea"/>
                          <a:ea typeface="+mn-ea"/>
                          <a:cs typeface="Kai Regular"/>
                          <a:sym typeface="Kai Regular"/>
                        </a:rPr>
                        <a:t>显示面板仪表：MFD+PFD+三个小仪表+无线电显示</a:t>
                      </a:r>
                      <a:r>
                        <a:rPr sz="2000" b="0" dirty="0">
                          <a:solidFill>
                            <a:schemeClr val="tx1"/>
                          </a:solidFill>
                          <a:latin typeface="+mn-ea"/>
                          <a:ea typeface="+mn-ea"/>
                          <a:cs typeface="Kai Regular"/>
                          <a:sym typeface="Kai Regular"/>
                        </a:rPr>
                        <a:t>
⧫</a:t>
                      </a:r>
                      <a:r>
                        <a:rPr sz="2000" b="0" dirty="0" err="1">
                          <a:solidFill>
                            <a:schemeClr val="tx1"/>
                          </a:solidFill>
                          <a:latin typeface="+mn-ea"/>
                          <a:ea typeface="+mn-ea"/>
                          <a:cs typeface="Kai Regular"/>
                          <a:sym typeface="Kai Regular"/>
                        </a:rPr>
                        <a:t>控制面板：襟翼角度调整、配平轮、钥匙点火、油门+燃油混合比（注入式</a:t>
                      </a:r>
                      <a:r>
                        <a:rPr sz="2000" b="0" dirty="0">
                          <a:solidFill>
                            <a:schemeClr val="tx1"/>
                          </a:solidFill>
                          <a:latin typeface="+mn-ea"/>
                          <a:ea typeface="+mn-ea"/>
                          <a:cs typeface="Kai Regular"/>
                          <a:sym typeface="Kai Regular"/>
                        </a:rPr>
                        <a:t>）</a:t>
                      </a:r>
                      <a:endParaRPr sz="2000" b="0" dirty="0">
                        <a:solidFill>
                          <a:schemeClr val="tx1"/>
                        </a:solidFill>
                        <a:latin typeface="+mn-ea"/>
                        <a:ea typeface="+mn-ea"/>
                        <a:cs typeface="Kai Regular"/>
                        <a:sym typeface="Kai Regular"/>
                      </a:endParaRPr>
                    </a:p>
                  </a:txBody>
                  <a:tcPr marL="63500" marR="63500" marT="0" marB="0" anchor="ctr" horzOverflow="overflow"/>
                </a:tc>
                <a:tc>
                  <a:txBody>
                    <a:bodyPr/>
                    <a:lstStyle/>
                    <a:p>
                      <a:pPr algn="ctr">
                        <a:defRPr sz="4500" spc="45">
                          <a:latin typeface="Kai Regular"/>
                          <a:ea typeface="Kai Regular"/>
                          <a:cs typeface="Kai Regular"/>
                          <a:sym typeface="Kai Regular"/>
                        </a:defRPr>
                      </a:pPr>
                      <a:endParaRPr sz="1600">
                        <a:solidFill>
                          <a:schemeClr val="tx1"/>
                        </a:solidFill>
                        <a:latin typeface="+mn-ea"/>
                        <a:ea typeface="+mn-ea"/>
                      </a:endParaRPr>
                    </a:p>
                  </a:txBody>
                  <a:tcPr marL="63500" marR="63500" marT="0" marB="0" anchor="ctr" horzOverflow="overflow"/>
                </a:tc>
              </a:tr>
              <a:tr h="997023">
                <a:tc>
                  <a:txBody>
                    <a:bodyPr/>
                    <a:lstStyle/>
                    <a:p>
                      <a:pPr algn="ctr" defTabSz="266700">
                        <a:defRPr sz="1800" spc="0">
                          <a:solidFill>
                            <a:srgbClr val="000000"/>
                          </a:solidFill>
                        </a:defRPr>
                      </a:pPr>
                      <a:r>
                        <a:rPr sz="2000" b="0">
                          <a:solidFill>
                            <a:schemeClr val="tx1"/>
                          </a:solidFill>
                          <a:latin typeface="+mn-ea"/>
                          <a:ea typeface="+mn-ea"/>
                          <a:cs typeface="Kai Regular"/>
                          <a:sym typeface="Kai Regular"/>
                        </a:rPr>
                        <a:t>3</a:t>
                      </a:r>
                      <a:endParaRPr sz="2000" b="0">
                        <a:solidFill>
                          <a:schemeClr val="tx1"/>
                        </a:solidFill>
                        <a:latin typeface="+mn-ea"/>
                        <a:ea typeface="+mn-ea"/>
                        <a:cs typeface="Kai Regular"/>
                        <a:sym typeface="Kai Regular"/>
                      </a:endParaRPr>
                    </a:p>
                  </a:txBody>
                  <a:tcPr marL="63500" marR="63500" marT="0" marB="0" anchor="ctr" horzOverflow="overflow"/>
                </a:tc>
                <a:tc>
                  <a:txBody>
                    <a:bodyPr/>
                    <a:lstStyle/>
                    <a:p>
                      <a:pPr algn="ctr" defTabSz="266700">
                        <a:defRPr sz="1800" spc="0">
                          <a:solidFill>
                            <a:srgbClr val="000000"/>
                          </a:solidFill>
                        </a:defRPr>
                      </a:pPr>
                      <a:r>
                        <a:rPr sz="2000" b="0">
                          <a:solidFill>
                            <a:schemeClr val="tx1"/>
                          </a:solidFill>
                          <a:latin typeface="+mn-ea"/>
                          <a:ea typeface="+mn-ea"/>
                          <a:cs typeface="Kai Regular"/>
                          <a:sym typeface="Kai Regular"/>
                        </a:rPr>
                        <a:t>动感平台</a:t>
                      </a:r>
                      <a:endParaRPr sz="2000" b="0">
                        <a:solidFill>
                          <a:schemeClr val="tx1"/>
                        </a:solidFill>
                        <a:latin typeface="+mn-ea"/>
                        <a:ea typeface="+mn-ea"/>
                        <a:cs typeface="Kai Regular"/>
                        <a:sym typeface="Kai Regular"/>
                      </a:endParaRPr>
                    </a:p>
                  </a:txBody>
                  <a:tcPr marL="63500" marR="63500" marT="0" marB="0" anchor="ctr" horzOverflow="overflow"/>
                </a:tc>
                <a:tc>
                  <a:txBody>
                    <a:bodyPr/>
                    <a:lstStyle/>
                    <a:p>
                      <a:pPr algn="l" defTabSz="266700">
                        <a:defRPr sz="1800" spc="0">
                          <a:solidFill>
                            <a:srgbClr val="000000"/>
                          </a:solidFill>
                        </a:defRPr>
                      </a:pPr>
                      <a:r>
                        <a:rPr sz="2000" b="0" dirty="0">
                          <a:solidFill>
                            <a:schemeClr val="tx1"/>
                          </a:solidFill>
                          <a:latin typeface="+mn-ea"/>
                          <a:ea typeface="+mn-ea"/>
                          <a:cs typeface="Kai Regular"/>
                          <a:sym typeface="Kai Regular"/>
                        </a:rPr>
                        <a:t>⧫6根电动缸
⧫6个电机
⧫6个伺服
⧫</a:t>
                      </a:r>
                      <a:r>
                        <a:rPr sz="2000" b="0" dirty="0" err="1">
                          <a:solidFill>
                            <a:schemeClr val="tx1"/>
                          </a:solidFill>
                          <a:latin typeface="+mn-ea"/>
                          <a:ea typeface="+mn-ea"/>
                          <a:cs typeface="Kai Regular"/>
                          <a:sym typeface="Kai Regular"/>
                        </a:rPr>
                        <a:t>优质钢结构</a:t>
                      </a:r>
                      <a:endParaRPr sz="2000" b="0" dirty="0">
                        <a:solidFill>
                          <a:schemeClr val="tx1"/>
                        </a:solidFill>
                        <a:latin typeface="+mn-ea"/>
                        <a:ea typeface="+mn-ea"/>
                        <a:cs typeface="Kai Regular"/>
                        <a:sym typeface="Kai Regular"/>
                      </a:endParaRPr>
                    </a:p>
                  </a:txBody>
                  <a:tcPr marL="63500" marR="63500" marT="0" marB="0" anchor="ctr" horzOverflow="overflow"/>
                </a:tc>
                <a:tc>
                  <a:txBody>
                    <a:bodyPr/>
                    <a:lstStyle/>
                    <a:p>
                      <a:pPr algn="ctr">
                        <a:defRPr sz="4500" spc="45">
                          <a:latin typeface="Kai Regular"/>
                          <a:ea typeface="Kai Regular"/>
                          <a:cs typeface="Kai Regular"/>
                          <a:sym typeface="Kai Regular"/>
                        </a:defRPr>
                      </a:pPr>
                      <a:endParaRPr sz="1600">
                        <a:solidFill>
                          <a:schemeClr val="tx1"/>
                        </a:solidFill>
                        <a:latin typeface="+mn-ea"/>
                        <a:ea typeface="+mn-ea"/>
                      </a:endParaRPr>
                    </a:p>
                  </a:txBody>
                  <a:tcPr marL="63500" marR="63500" marT="0" marB="0" anchor="ctr" horzOverflow="overflow"/>
                </a:tc>
              </a:tr>
              <a:tr h="1310070">
                <a:tc>
                  <a:txBody>
                    <a:bodyPr/>
                    <a:lstStyle/>
                    <a:p>
                      <a:pPr algn="ctr" defTabSz="266700">
                        <a:defRPr sz="1800" spc="0">
                          <a:solidFill>
                            <a:srgbClr val="000000"/>
                          </a:solidFill>
                        </a:defRPr>
                      </a:pPr>
                      <a:r>
                        <a:rPr sz="2000" b="0">
                          <a:solidFill>
                            <a:schemeClr val="tx1"/>
                          </a:solidFill>
                          <a:latin typeface="+mn-ea"/>
                          <a:ea typeface="+mn-ea"/>
                          <a:cs typeface="Kai Regular"/>
                          <a:sym typeface="Kai Regular"/>
                        </a:rPr>
                        <a:t>4</a:t>
                      </a:r>
                      <a:endParaRPr sz="2000" b="0">
                        <a:solidFill>
                          <a:schemeClr val="tx1"/>
                        </a:solidFill>
                        <a:latin typeface="+mn-ea"/>
                        <a:ea typeface="+mn-ea"/>
                        <a:cs typeface="Kai Regular"/>
                        <a:sym typeface="Kai Regular"/>
                      </a:endParaRPr>
                    </a:p>
                  </a:txBody>
                  <a:tcPr marL="63500" marR="63500" marT="0" marB="0" anchor="ctr" horzOverflow="overflow"/>
                </a:tc>
                <a:tc>
                  <a:txBody>
                    <a:bodyPr/>
                    <a:lstStyle/>
                    <a:p>
                      <a:pPr algn="ctr" defTabSz="266700">
                        <a:defRPr sz="1800" spc="0">
                          <a:solidFill>
                            <a:srgbClr val="000000"/>
                          </a:solidFill>
                        </a:defRPr>
                      </a:pPr>
                      <a:r>
                        <a:rPr sz="2000" b="0">
                          <a:solidFill>
                            <a:schemeClr val="tx1"/>
                          </a:solidFill>
                          <a:latin typeface="+mn-ea"/>
                          <a:ea typeface="+mn-ea"/>
                          <a:cs typeface="Kai Regular"/>
                          <a:sym typeface="Kai Regular"/>
                        </a:rPr>
                        <a:t>控制系统</a:t>
                      </a:r>
                      <a:endParaRPr sz="2000" b="0">
                        <a:solidFill>
                          <a:schemeClr val="tx1"/>
                        </a:solidFill>
                        <a:latin typeface="+mn-ea"/>
                        <a:ea typeface="+mn-ea"/>
                        <a:cs typeface="Kai Regular"/>
                        <a:sym typeface="Kai Regular"/>
                      </a:endParaRPr>
                    </a:p>
                  </a:txBody>
                  <a:tcPr marL="63500" marR="63500" marT="0" marB="0" anchor="ctr" horzOverflow="overflow"/>
                </a:tc>
                <a:tc>
                  <a:txBody>
                    <a:bodyPr/>
                    <a:lstStyle/>
                    <a:p>
                      <a:pPr algn="l" defTabSz="266700">
                        <a:defRPr sz="1800" spc="0">
                          <a:solidFill>
                            <a:srgbClr val="000000"/>
                          </a:solidFill>
                        </a:defRPr>
                      </a:pPr>
                      <a:r>
                        <a:rPr sz="2000" b="0" dirty="0" err="1">
                          <a:solidFill>
                            <a:schemeClr val="tx1"/>
                          </a:solidFill>
                          <a:latin typeface="+mn-ea"/>
                          <a:ea typeface="+mn-ea"/>
                          <a:cs typeface="Kai Regular"/>
                          <a:sym typeface="Kai Regular"/>
                        </a:rPr>
                        <a:t>对各个控制器发出的信号进行实时分析并进行传输并通过视景显示的方式展现在屏幕上，对动态数据通过六自由度平台进行动态的反馈</a:t>
                      </a:r>
                      <a:r>
                        <a:rPr sz="2000" b="0" dirty="0">
                          <a:solidFill>
                            <a:schemeClr val="tx1"/>
                          </a:solidFill>
                          <a:latin typeface="+mn-ea"/>
                          <a:ea typeface="+mn-ea"/>
                          <a:cs typeface="Kai Regular"/>
                          <a:sym typeface="Kai Regular"/>
                        </a:rPr>
                        <a:t>。</a:t>
                      </a:r>
                      <a:endParaRPr sz="2000" b="0" dirty="0">
                        <a:solidFill>
                          <a:schemeClr val="tx1"/>
                        </a:solidFill>
                        <a:latin typeface="+mn-ea"/>
                        <a:ea typeface="+mn-ea"/>
                        <a:cs typeface="Kai Regular"/>
                        <a:sym typeface="Kai Regular"/>
                      </a:endParaRPr>
                    </a:p>
                  </a:txBody>
                  <a:tcPr marL="63500" marR="63500" marT="0" marB="0" anchor="ctr" horzOverflow="overflow"/>
                </a:tc>
                <a:tc>
                  <a:txBody>
                    <a:bodyPr/>
                    <a:lstStyle/>
                    <a:p>
                      <a:pPr algn="ctr">
                        <a:defRPr sz="4500" spc="45">
                          <a:latin typeface="Kai Regular"/>
                          <a:ea typeface="Kai Regular"/>
                          <a:cs typeface="Kai Regular"/>
                          <a:sym typeface="Kai Regular"/>
                        </a:defRPr>
                      </a:pPr>
                      <a:endParaRPr sz="1600" dirty="0">
                        <a:solidFill>
                          <a:schemeClr val="tx1"/>
                        </a:solidFill>
                        <a:latin typeface="+mn-ea"/>
                        <a:ea typeface="+mn-ea"/>
                      </a:endParaRPr>
                    </a:p>
                  </a:txBody>
                  <a:tcPr marL="63500" marR="63500" marT="0" marB="0" anchor="ctr" horzOverflow="overflow"/>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zh-CN" altLang="en-US" dirty="0"/>
              <a:t>MA</a:t>
            </a:r>
            <a:r>
              <a:rPr lang="en-US" altLang="zh-CN" dirty="0" smtClean="0"/>
              <a:t>E102</a:t>
            </a:r>
            <a:endParaRPr lang="en-US" altLang="zh-CN"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 name="图像" descr="图像"/>
          <p:cNvPicPr>
            <a:picLocks noChangeAspect="1"/>
          </p:cNvPicPr>
          <p:nvPr/>
        </p:nvPicPr>
        <p:blipFill>
          <a:blip r:embed="rId1"/>
          <a:stretch>
            <a:fillRect/>
          </a:stretch>
        </p:blipFill>
        <p:spPr>
          <a:xfrm>
            <a:off x="5664199" y="900901"/>
            <a:ext cx="3558993" cy="2675677"/>
          </a:xfrm>
          <a:prstGeom prst="rect">
            <a:avLst/>
          </a:prstGeom>
          <a:ln w="12700">
            <a:miter lim="400000"/>
            <a:headEnd/>
            <a:tailEnd/>
          </a:ln>
        </p:spPr>
      </p:pic>
      <p:pic>
        <p:nvPicPr>
          <p:cNvPr id="7" name="page6image30787824.jpg" descr="page6image30787824.jpg"/>
          <p:cNvPicPr>
            <a:picLocks noChangeAspect="1"/>
          </p:cNvPicPr>
          <p:nvPr/>
        </p:nvPicPr>
        <p:blipFill>
          <a:blip r:embed="rId2"/>
          <a:stretch>
            <a:fillRect/>
          </a:stretch>
        </p:blipFill>
        <p:spPr>
          <a:xfrm>
            <a:off x="1459744" y="900901"/>
            <a:ext cx="3574445" cy="2659387"/>
          </a:xfrm>
          <a:prstGeom prst="rect">
            <a:avLst/>
          </a:prstGeom>
          <a:ln w="12700">
            <a:miter lim="400000"/>
            <a:headEnd/>
            <a:tailEnd/>
          </a:ln>
        </p:spPr>
      </p:pic>
      <p:pic>
        <p:nvPicPr>
          <p:cNvPr id="8" name="图像" descr="图像"/>
          <p:cNvPicPr>
            <a:picLocks noChangeAspect="1"/>
          </p:cNvPicPr>
          <p:nvPr/>
        </p:nvPicPr>
        <p:blipFill>
          <a:blip r:embed="rId3"/>
          <a:stretch>
            <a:fillRect/>
          </a:stretch>
        </p:blipFill>
        <p:spPr>
          <a:xfrm>
            <a:off x="1475197" y="3629193"/>
            <a:ext cx="3558992" cy="2635023"/>
          </a:xfrm>
          <a:prstGeom prst="rect">
            <a:avLst/>
          </a:prstGeom>
          <a:ln w="12700">
            <a:miter lim="400000"/>
            <a:headEnd/>
            <a:tailEnd/>
          </a:ln>
        </p:spPr>
      </p:pic>
      <p:pic>
        <p:nvPicPr>
          <p:cNvPr id="9" name="图像" descr="图像"/>
          <p:cNvPicPr>
            <a:picLocks noChangeAspect="1"/>
          </p:cNvPicPr>
          <p:nvPr/>
        </p:nvPicPr>
        <p:blipFill>
          <a:blip r:embed="rId4"/>
          <a:stretch>
            <a:fillRect/>
          </a:stretch>
        </p:blipFill>
        <p:spPr>
          <a:xfrm>
            <a:off x="5668739" y="3670157"/>
            <a:ext cx="3554453" cy="2675676"/>
          </a:xfrm>
          <a:prstGeom prst="rect">
            <a:avLst/>
          </a:prstGeom>
          <a:ln w="12700">
            <a:miter lim="400000"/>
            <a:headEnd/>
            <a:tailEnd/>
          </a:ln>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TAG_VERSION" val="1.0"/>
  <p:tag name="KSO_WM_TEMPLATE_CATEGORY" val="custom"/>
  <p:tag name="KSO_WM_TEMPLATE_INDEX" val="20181643"/>
</p:tagLst>
</file>

<file path=ppt/tags/tag2.xml><?xml version="1.0" encoding="utf-8"?>
<p:tagLst xmlns:p="http://schemas.openxmlformats.org/presentationml/2006/main">
  <p:tag name="KSO_WM_TAG_VERSION" val="1.0"/>
  <p:tag name="KSO_WM_TEMPLATE_CATEGORY" val="custom"/>
  <p:tag name="KSO_WM_TEMPLATE_INDEX" val="20181643"/>
</p:tagLst>
</file>

<file path=ppt/tags/tag3.xml><?xml version="1.0" encoding="utf-8"?>
<p:tagLst xmlns:p="http://schemas.openxmlformats.org/presentationml/2006/main">
  <p:tag name="KSO_WM_TAG_VERSION" val="1.0"/>
  <p:tag name="KSO_WM_BEAUTIFY_FLAG" val="#wm#"/>
  <p:tag name="KSO_WM_COMBINE_RELATE_SLIDE_ID" val="background20180982_1"/>
  <p:tag name="KSO_WM_TEMPLATE_CATEGORY" val="custom"/>
  <p:tag name="KSO_WM_TEMPLATE_INDEX" val="20181643"/>
  <p:tag name="KSO_WM_TEMPLATE_SUBCATEGORY" val="combine"/>
  <p:tag name="KSO_WM_TEMPLATE_THUMBS_INDEX" val="1、4、5、10、11、15、16、17"/>
</p:tagLst>
</file>

<file path=ppt/tags/tag4.xml><?xml version="1.0" encoding="utf-8"?>
<p:tagLst xmlns:p="http://schemas.openxmlformats.org/presentationml/2006/main">
  <p:tag name="KSO_WM_BEAUTIFY_FLAG" val="#wm#"/>
  <p:tag name="KSO_WM_TEMPLATE_CATEGORY" val="custom"/>
  <p:tag name="KSO_WM_TEMPLATE_INDEX" val="20181643"/>
  <p:tag name="KSO_WM_SLIDE_MODEL_TYPE" val="cover"/>
</p:tagLst>
</file>

<file path=ppt/tags/tag5.xml><?xml version="1.0" encoding="utf-8"?>
<p:tagLst xmlns:p="http://schemas.openxmlformats.org/presentationml/2006/main">
  <p:tag name="KSO_WM_BEAUTIFY_FLAG" val="#wm#"/>
  <p:tag name="KSO_WM_TEMPLATE_CATEGORY" val="custom"/>
  <p:tag name="KSO_WM_TEMPLATE_INDEX" val="20181643"/>
</p:tagLst>
</file>

<file path=ppt/tags/tag6.xml><?xml version="1.0" encoding="utf-8"?>
<p:tagLst xmlns:p="http://schemas.openxmlformats.org/presentationml/2006/main">
  <p:tag name="COMMONDATA" val="eyJoZGlkIjoiNGJhYWY2Y2VlYmZmMDQ3ZWExMjI2OGRkNGFlNzBhNDUifQ=="/>
  <p:tag name="KSO_WPP_MARK_KEY" val="71513553-bb76-4830-ad21-66eb80e9074b"/>
</p:tagLst>
</file>

<file path=ppt/theme/theme1.xml><?xml version="1.0" encoding="utf-8"?>
<a:theme xmlns:a="http://schemas.openxmlformats.org/drawingml/2006/main" name="2_Office 主题​​">
  <a:themeElements>
    <a:clrScheme name="102705">
      <a:dk1>
        <a:sysClr val="windowText" lastClr="000000"/>
      </a:dk1>
      <a:lt1>
        <a:sysClr val="window" lastClr="FFFFFF"/>
      </a:lt1>
      <a:dk2>
        <a:srgbClr val="8064A2"/>
      </a:dk2>
      <a:lt2>
        <a:srgbClr val="EEECE1"/>
      </a:lt2>
      <a:accent1>
        <a:srgbClr val="FFFFFF"/>
      </a:accent1>
      <a:accent2>
        <a:srgbClr val="000000"/>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1456</Words>
  <Application>WPS 演示</Application>
  <PresentationFormat>宽屏</PresentationFormat>
  <Paragraphs>134</Paragraphs>
  <Slides>10</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宋体</vt:lpstr>
      <vt:lpstr>Wingdings</vt:lpstr>
      <vt:lpstr>微软雅黑</vt:lpstr>
      <vt:lpstr>Calibri</vt:lpstr>
      <vt:lpstr>黑体</vt:lpstr>
      <vt:lpstr>Arial Unicode MS</vt:lpstr>
      <vt:lpstr>Cambria Math</vt:lpstr>
      <vt:lpstr>Kai Regular</vt:lpstr>
      <vt:lpstr>Segoe Print</vt:lpstr>
      <vt:lpstr>MS PGothic</vt:lpstr>
      <vt:lpstr>2_Office 主题​​</vt:lpstr>
      <vt:lpstr>飞行模拟实验</vt:lpstr>
      <vt:lpstr>联系方式</vt:lpstr>
      <vt:lpstr>教学目标</vt:lpstr>
      <vt:lpstr>教学内容</vt:lpstr>
      <vt:lpstr>考核</vt:lpstr>
      <vt:lpstr>教学工具</vt:lpstr>
      <vt:lpstr>飞行模拟软件</vt:lpstr>
      <vt:lpstr>飞行模拟器介绍</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工程软件选讲</dc:title>
  <dc:creator>赵晓争</dc:creator>
  <cp:lastModifiedBy>企鹅要革命</cp:lastModifiedBy>
  <cp:revision>203</cp:revision>
  <dcterms:created xsi:type="dcterms:W3CDTF">2019-08-17T01:45:00Z</dcterms:created>
  <dcterms:modified xsi:type="dcterms:W3CDTF">2026-03-02T14:13:47Z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CB95E5F6D69D4CF0893A9CC1CBA5877C</vt:lpwstr>
  </property>
</Properties>
</file>